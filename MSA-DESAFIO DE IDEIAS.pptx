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ebas Neue Bold" charset="1" panose="020B0606020202050201"/>
      <p:regular r:id="rId20"/>
    </p:embeddedFont>
    <p:embeddedFont>
      <p:font typeface="Poppins Medium" charset="1" panose="00000600000000000000"/>
      <p:regular r:id="rId21"/>
    </p:embeddedFont>
    <p:embeddedFont>
      <p:font typeface="Poppins Bold" charset="1" panose="00000800000000000000"/>
      <p:regular r:id="rId22"/>
    </p:embeddedFont>
    <p:embeddedFont>
      <p:font typeface="Open Sans Bold" charset="1" panose="020B0806030504020204"/>
      <p:regular r:id="rId23"/>
    </p:embeddedFont>
    <p:embeddedFont>
      <p:font typeface="Poppins" charset="1" panose="00000500000000000000"/>
      <p:regular r:id="rId24"/>
    </p:embeddedFont>
    <p:embeddedFont>
      <p:font typeface="Helvetica World Bold" charset="1" panose="020B0800040000020004"/>
      <p:regular r:id="rId25"/>
    </p:embeddedFont>
    <p:embeddedFont>
      <p:font typeface="Helvetica World" charset="1" panose="020B0500040000020004"/>
      <p:regular r:id="rId26"/>
    </p:embeddedFont>
    <p:embeddedFont>
      <p:font typeface="Times New Roman MT Condensed" charset="1" panose="020305060704050203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4.png" Type="http://schemas.openxmlformats.org/officeDocument/2006/relationships/image"/><Relationship Id="rId6" Target="https://luanxso.github.io/MSA/dist/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8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3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654661" y="8684558"/>
            <a:ext cx="1696354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942223" y="612109"/>
            <a:ext cx="317077" cy="149891"/>
          </a:xfrm>
          <a:custGeom>
            <a:avLst/>
            <a:gdLst/>
            <a:ahLst/>
            <a:cxnLst/>
            <a:rect r="r" b="b" t="t" l="l"/>
            <a:pathLst>
              <a:path h="149891" w="317077">
                <a:moveTo>
                  <a:pt x="0" y="0"/>
                </a:moveTo>
                <a:lnTo>
                  <a:pt x="317077" y="0"/>
                </a:lnTo>
                <a:lnTo>
                  <a:pt x="317077" y="149891"/>
                </a:lnTo>
                <a:lnTo>
                  <a:pt x="0" y="149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4661" y="9168588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6" y="0"/>
                </a:lnTo>
                <a:lnTo>
                  <a:pt x="1962286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65973" y="9363258"/>
            <a:ext cx="2152237" cy="551511"/>
          </a:xfrm>
          <a:custGeom>
            <a:avLst/>
            <a:gdLst/>
            <a:ahLst/>
            <a:cxnLst/>
            <a:rect r="r" b="b" t="t" l="l"/>
            <a:pathLst>
              <a:path h="551511" w="2152237">
                <a:moveTo>
                  <a:pt x="0" y="0"/>
                </a:moveTo>
                <a:lnTo>
                  <a:pt x="2152237" y="0"/>
                </a:lnTo>
                <a:lnTo>
                  <a:pt x="2152237" y="551511"/>
                </a:lnTo>
                <a:lnTo>
                  <a:pt x="0" y="5515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4585617"/>
            <a:ext cx="14312152" cy="159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08"/>
              </a:lnSpc>
            </a:pPr>
            <a:r>
              <a:rPr lang="en-US" b="true" sz="13466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MSA</a:t>
            </a:r>
            <a:r>
              <a:rPr lang="en-US" b="true" sz="13466">
                <a:solidFill>
                  <a:srgbClr val="0099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THE SAFETY 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71550"/>
            <a:ext cx="6894509" cy="4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DESAFIO DE IDEIAS - SENAI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64791" y="796393"/>
            <a:ext cx="6894509" cy="4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08/10/2026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3437" y="5770170"/>
            <a:ext cx="9212077" cy="4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SISTEMA DE MONITORAMENTO E GESTÃO DA PRODUÇÃO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590669"/>
            <a:ext cx="6894509" cy="40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  <a:spcBef>
                <a:spcPct val="0"/>
              </a:spcBef>
            </a:pPr>
            <a:r>
              <a:rPr lang="en-US" b="true" sz="2333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GRUPO 4 - </a:t>
            </a:r>
            <a:r>
              <a:rPr lang="en-US" b="true" sz="2333">
                <a:solidFill>
                  <a:srgbClr val="FF31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GRUPO VERMELHO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69818" y="159703"/>
            <a:ext cx="834836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INTEGRANTES: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494111" y="5524190"/>
            <a:ext cx="3100750" cy="3100750"/>
            <a:chOff x="0" y="0"/>
            <a:chExt cx="13716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8888" r="0" b="-3888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122618" y="2088097"/>
            <a:ext cx="3100750" cy="3100750"/>
            <a:chOff x="0" y="0"/>
            <a:chExt cx="13716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1047" r="0" b="-5673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23368" y="5643807"/>
            <a:ext cx="3100750" cy="3100750"/>
            <a:chOff x="0" y="0"/>
            <a:chExt cx="13716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5995" r="0" b="-4178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85923" y="2163113"/>
            <a:ext cx="3100750" cy="3100750"/>
            <a:chOff x="0" y="0"/>
            <a:chExt cx="13716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60106" r="0" b="-1767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67162" y="2088097"/>
            <a:ext cx="3100750" cy="3100750"/>
            <a:chOff x="0" y="0"/>
            <a:chExt cx="13716000" cy="137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7359" r="0" b="-6041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564131" y="5643807"/>
            <a:ext cx="3100750" cy="3100750"/>
            <a:chOff x="0" y="0"/>
            <a:chExt cx="13716000" cy="137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9414" r="0" b="-4836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89704" y="5206713"/>
            <a:ext cx="1855666" cy="81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 BEATRIZ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SOARES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45160" y="5206713"/>
            <a:ext cx="1855666" cy="81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GEOVANY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CONCEIÇÃO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08465" y="5467040"/>
            <a:ext cx="1855666" cy="81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ISAAC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16653" y="8567790"/>
            <a:ext cx="1855666" cy="81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DANIEL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OLIVEIRA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45910" y="8687407"/>
            <a:ext cx="1855666" cy="81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LUAN SANTOS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86673" y="8687407"/>
            <a:ext cx="1855666" cy="81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THAIS</a:t>
            </a:r>
          </a:p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sz="2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FERREIRA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79425" y="9124501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5" y="0"/>
                </a:lnTo>
                <a:lnTo>
                  <a:pt x="1962285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57689" cy="10678462"/>
            <a:chOff x="0" y="0"/>
            <a:chExt cx="1186376" cy="1654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6376" cy="1654373"/>
            </a:xfrm>
            <a:custGeom>
              <a:avLst/>
              <a:gdLst/>
              <a:ahLst/>
              <a:cxnLst/>
              <a:rect r="r" b="b" t="t" l="l"/>
              <a:pathLst>
                <a:path h="1654373" w="1186376">
                  <a:moveTo>
                    <a:pt x="0" y="0"/>
                  </a:moveTo>
                  <a:lnTo>
                    <a:pt x="1186376" y="0"/>
                  </a:lnTo>
                  <a:lnTo>
                    <a:pt x="1186376" y="1654373"/>
                  </a:lnTo>
                  <a:lnTo>
                    <a:pt x="0" y="1654373"/>
                  </a:lnTo>
                  <a:close/>
                </a:path>
              </a:pathLst>
            </a:custGeom>
            <a:blipFill>
              <a:blip r:embed="rId2"/>
              <a:stretch>
                <a:fillRect l="-75098" t="0" r="-7509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85145" y="2114086"/>
            <a:ext cx="10284112" cy="3647974"/>
            <a:chOff x="0" y="0"/>
            <a:chExt cx="2135965" cy="7576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965" cy="757668"/>
            </a:xfrm>
            <a:custGeom>
              <a:avLst/>
              <a:gdLst/>
              <a:ahLst/>
              <a:cxnLst/>
              <a:rect r="r" b="b" t="t" l="l"/>
              <a:pathLst>
                <a:path h="757668" w="2135965">
                  <a:moveTo>
                    <a:pt x="38393" y="0"/>
                  </a:moveTo>
                  <a:lnTo>
                    <a:pt x="2097572" y="0"/>
                  </a:lnTo>
                  <a:cubicBezTo>
                    <a:pt x="2118776" y="0"/>
                    <a:pt x="2135965" y="17189"/>
                    <a:pt x="2135965" y="38393"/>
                  </a:cubicBezTo>
                  <a:lnTo>
                    <a:pt x="2135965" y="719275"/>
                  </a:lnTo>
                  <a:cubicBezTo>
                    <a:pt x="2135965" y="740479"/>
                    <a:pt x="2118776" y="757668"/>
                    <a:pt x="2097572" y="757668"/>
                  </a:cubicBezTo>
                  <a:lnTo>
                    <a:pt x="38393" y="757668"/>
                  </a:lnTo>
                  <a:cubicBezTo>
                    <a:pt x="17189" y="757668"/>
                    <a:pt x="0" y="740479"/>
                    <a:pt x="0" y="719275"/>
                  </a:cubicBezTo>
                  <a:lnTo>
                    <a:pt x="0" y="38393"/>
                  </a:lnTo>
                  <a:cubicBezTo>
                    <a:pt x="0" y="17189"/>
                    <a:pt x="17189" y="0"/>
                    <a:pt x="3839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35965" cy="814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100748" y="713931"/>
            <a:ext cx="9158552" cy="179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7"/>
              </a:lnSpc>
            </a:pPr>
            <a:r>
              <a:rPr lang="en-US" sz="1533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QUEM É A MSA?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369899" y="432685"/>
            <a:ext cx="317077" cy="149891"/>
          </a:xfrm>
          <a:custGeom>
            <a:avLst/>
            <a:gdLst/>
            <a:ahLst/>
            <a:cxnLst/>
            <a:rect r="r" b="b" t="t" l="l"/>
            <a:pathLst>
              <a:path h="149891" w="317077">
                <a:moveTo>
                  <a:pt x="0" y="0"/>
                </a:moveTo>
                <a:lnTo>
                  <a:pt x="317076" y="0"/>
                </a:lnTo>
                <a:lnTo>
                  <a:pt x="317076" y="149890"/>
                </a:lnTo>
                <a:lnTo>
                  <a:pt x="0" y="149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07789" y="7578124"/>
            <a:ext cx="3145908" cy="1841323"/>
            <a:chOff x="0" y="0"/>
            <a:chExt cx="828552" cy="4849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8552" cy="484957"/>
            </a:xfrm>
            <a:custGeom>
              <a:avLst/>
              <a:gdLst/>
              <a:ahLst/>
              <a:cxnLst/>
              <a:rect r="r" b="b" t="t" l="l"/>
              <a:pathLst>
                <a:path h="484957" w="828552">
                  <a:moveTo>
                    <a:pt x="71368" y="0"/>
                  </a:moveTo>
                  <a:lnTo>
                    <a:pt x="757184" y="0"/>
                  </a:lnTo>
                  <a:cubicBezTo>
                    <a:pt x="776112" y="0"/>
                    <a:pt x="794265" y="7519"/>
                    <a:pt x="807649" y="20903"/>
                  </a:cubicBezTo>
                  <a:cubicBezTo>
                    <a:pt x="821033" y="34287"/>
                    <a:pt x="828552" y="52440"/>
                    <a:pt x="828552" y="71368"/>
                  </a:cubicBezTo>
                  <a:lnTo>
                    <a:pt x="828552" y="413590"/>
                  </a:lnTo>
                  <a:cubicBezTo>
                    <a:pt x="828552" y="453005"/>
                    <a:pt x="796600" y="484957"/>
                    <a:pt x="757184" y="484957"/>
                  </a:cubicBezTo>
                  <a:lnTo>
                    <a:pt x="71368" y="484957"/>
                  </a:lnTo>
                  <a:cubicBezTo>
                    <a:pt x="52440" y="484957"/>
                    <a:pt x="34287" y="477438"/>
                    <a:pt x="20903" y="464054"/>
                  </a:cubicBezTo>
                  <a:cubicBezTo>
                    <a:pt x="7519" y="450670"/>
                    <a:pt x="0" y="432518"/>
                    <a:pt x="0" y="413590"/>
                  </a:cubicBezTo>
                  <a:lnTo>
                    <a:pt x="0" y="71368"/>
                  </a:lnTo>
                  <a:cubicBezTo>
                    <a:pt x="0" y="52440"/>
                    <a:pt x="7519" y="34287"/>
                    <a:pt x="20903" y="20903"/>
                  </a:cubicBezTo>
                  <a:cubicBezTo>
                    <a:pt x="34287" y="7519"/>
                    <a:pt x="52440" y="0"/>
                    <a:pt x="71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28552" cy="53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260607" y="7695528"/>
            <a:ext cx="776593" cy="555264"/>
          </a:xfrm>
          <a:custGeom>
            <a:avLst/>
            <a:gdLst/>
            <a:ahLst/>
            <a:cxnLst/>
            <a:rect r="r" b="b" t="t" l="l"/>
            <a:pathLst>
              <a:path h="555264" w="776593">
                <a:moveTo>
                  <a:pt x="0" y="0"/>
                </a:moveTo>
                <a:lnTo>
                  <a:pt x="776594" y="0"/>
                </a:lnTo>
                <a:lnTo>
                  <a:pt x="776594" y="555264"/>
                </a:lnTo>
                <a:lnTo>
                  <a:pt x="0" y="555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399542" y="7578124"/>
            <a:ext cx="3145908" cy="1841323"/>
            <a:chOff x="0" y="0"/>
            <a:chExt cx="828552" cy="4849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8552" cy="484957"/>
            </a:xfrm>
            <a:custGeom>
              <a:avLst/>
              <a:gdLst/>
              <a:ahLst/>
              <a:cxnLst/>
              <a:rect r="r" b="b" t="t" l="l"/>
              <a:pathLst>
                <a:path h="484957" w="828552">
                  <a:moveTo>
                    <a:pt x="71368" y="0"/>
                  </a:moveTo>
                  <a:lnTo>
                    <a:pt x="757184" y="0"/>
                  </a:lnTo>
                  <a:cubicBezTo>
                    <a:pt x="776112" y="0"/>
                    <a:pt x="794265" y="7519"/>
                    <a:pt x="807649" y="20903"/>
                  </a:cubicBezTo>
                  <a:cubicBezTo>
                    <a:pt x="821033" y="34287"/>
                    <a:pt x="828552" y="52440"/>
                    <a:pt x="828552" y="71368"/>
                  </a:cubicBezTo>
                  <a:lnTo>
                    <a:pt x="828552" y="413590"/>
                  </a:lnTo>
                  <a:cubicBezTo>
                    <a:pt x="828552" y="453005"/>
                    <a:pt x="796600" y="484957"/>
                    <a:pt x="757184" y="484957"/>
                  </a:cubicBezTo>
                  <a:lnTo>
                    <a:pt x="71368" y="484957"/>
                  </a:lnTo>
                  <a:cubicBezTo>
                    <a:pt x="52440" y="484957"/>
                    <a:pt x="34287" y="477438"/>
                    <a:pt x="20903" y="464054"/>
                  </a:cubicBezTo>
                  <a:cubicBezTo>
                    <a:pt x="7519" y="450670"/>
                    <a:pt x="0" y="432518"/>
                    <a:pt x="0" y="413590"/>
                  </a:cubicBezTo>
                  <a:lnTo>
                    <a:pt x="0" y="71368"/>
                  </a:lnTo>
                  <a:cubicBezTo>
                    <a:pt x="0" y="52440"/>
                    <a:pt x="7519" y="34287"/>
                    <a:pt x="20903" y="20903"/>
                  </a:cubicBezTo>
                  <a:cubicBezTo>
                    <a:pt x="34287" y="7519"/>
                    <a:pt x="52440" y="0"/>
                    <a:pt x="71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28552" cy="53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2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843234" y="7578124"/>
            <a:ext cx="3145908" cy="1841323"/>
            <a:chOff x="0" y="0"/>
            <a:chExt cx="828552" cy="48495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8552" cy="484957"/>
            </a:xfrm>
            <a:custGeom>
              <a:avLst/>
              <a:gdLst/>
              <a:ahLst/>
              <a:cxnLst/>
              <a:rect r="r" b="b" t="t" l="l"/>
              <a:pathLst>
                <a:path h="484957" w="828552">
                  <a:moveTo>
                    <a:pt x="71368" y="0"/>
                  </a:moveTo>
                  <a:lnTo>
                    <a:pt x="757184" y="0"/>
                  </a:lnTo>
                  <a:cubicBezTo>
                    <a:pt x="776112" y="0"/>
                    <a:pt x="794265" y="7519"/>
                    <a:pt x="807649" y="20903"/>
                  </a:cubicBezTo>
                  <a:cubicBezTo>
                    <a:pt x="821033" y="34287"/>
                    <a:pt x="828552" y="52440"/>
                    <a:pt x="828552" y="71368"/>
                  </a:cubicBezTo>
                  <a:lnTo>
                    <a:pt x="828552" y="413590"/>
                  </a:lnTo>
                  <a:cubicBezTo>
                    <a:pt x="828552" y="453005"/>
                    <a:pt x="796600" y="484957"/>
                    <a:pt x="757184" y="484957"/>
                  </a:cubicBezTo>
                  <a:lnTo>
                    <a:pt x="71368" y="484957"/>
                  </a:lnTo>
                  <a:cubicBezTo>
                    <a:pt x="52440" y="484957"/>
                    <a:pt x="34287" y="477438"/>
                    <a:pt x="20903" y="464054"/>
                  </a:cubicBezTo>
                  <a:cubicBezTo>
                    <a:pt x="7519" y="450670"/>
                    <a:pt x="0" y="432518"/>
                    <a:pt x="0" y="413590"/>
                  </a:cubicBezTo>
                  <a:lnTo>
                    <a:pt x="0" y="71368"/>
                  </a:lnTo>
                  <a:cubicBezTo>
                    <a:pt x="0" y="52440"/>
                    <a:pt x="7519" y="34287"/>
                    <a:pt x="20903" y="20903"/>
                  </a:cubicBezTo>
                  <a:cubicBezTo>
                    <a:pt x="34287" y="7519"/>
                    <a:pt x="52440" y="0"/>
                    <a:pt x="71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28552" cy="532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2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5059800" y="7641530"/>
            <a:ext cx="510332" cy="675936"/>
          </a:xfrm>
          <a:custGeom>
            <a:avLst/>
            <a:gdLst/>
            <a:ahLst/>
            <a:cxnLst/>
            <a:rect r="r" b="b" t="t" l="l"/>
            <a:pathLst>
              <a:path h="675936" w="510332">
                <a:moveTo>
                  <a:pt x="0" y="0"/>
                </a:moveTo>
                <a:lnTo>
                  <a:pt x="510332" y="0"/>
                </a:lnTo>
                <a:lnTo>
                  <a:pt x="510332" y="675937"/>
                </a:lnTo>
                <a:lnTo>
                  <a:pt x="0" y="6759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629248" y="7727255"/>
            <a:ext cx="824467" cy="523536"/>
          </a:xfrm>
          <a:custGeom>
            <a:avLst/>
            <a:gdLst/>
            <a:ahLst/>
            <a:cxnLst/>
            <a:rect r="r" b="b" t="t" l="l"/>
            <a:pathLst>
              <a:path h="523536" w="824467">
                <a:moveTo>
                  <a:pt x="0" y="0"/>
                </a:moveTo>
                <a:lnTo>
                  <a:pt x="824467" y="0"/>
                </a:lnTo>
                <a:lnTo>
                  <a:pt x="824467" y="523537"/>
                </a:lnTo>
                <a:lnTo>
                  <a:pt x="0" y="5235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168387" y="2169150"/>
            <a:ext cx="9717629" cy="344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214">
                <a:solidFill>
                  <a:srgbClr val="00663D"/>
                </a:solidFill>
                <a:latin typeface="Poppins"/>
                <a:ea typeface="Poppins"/>
                <a:cs typeface="Poppins"/>
                <a:sym typeface="Poppins"/>
              </a:rPr>
              <a:t>A MSA é </a:t>
            </a:r>
            <a:r>
              <a:rPr lang="en-US" sz="3214">
                <a:solidFill>
                  <a:srgbClr val="00663D"/>
                </a:solidFill>
                <a:latin typeface="Poppins"/>
                <a:ea typeface="Poppins"/>
                <a:cs typeface="Poppins"/>
                <a:sym typeface="Poppins"/>
              </a:rPr>
              <a:t>uma empresa referência  em soluções de segurança e proteção, com mais de 60 anos de atuação. A empresa desenvolve equipamentos e tecnologias de ponta  dedicados a uma única missão: proteger vidas nos mais diversos ambientes de trabalho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95065" y="8203167"/>
            <a:ext cx="1820841" cy="41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  <a:spcBef>
                <a:spcPct val="0"/>
              </a:spcBef>
            </a:pPr>
            <a:r>
              <a:rPr lang="en-US" b="true" sz="222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CAPACETES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57454" y="8638395"/>
            <a:ext cx="3446578" cy="60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b="true" sz="1713">
                <a:solidFill>
                  <a:srgbClr val="686B6F"/>
                </a:solidFill>
                <a:latin typeface="Poppins Bold"/>
                <a:ea typeface="Poppins Bold"/>
                <a:cs typeface="Poppins Bold"/>
                <a:sym typeface="Poppins Bold"/>
              </a:rPr>
              <a:t>Alta reistência </a:t>
            </a:r>
          </a:p>
          <a:p>
            <a:pPr algn="ctr">
              <a:lnSpc>
                <a:spcPts val="2399"/>
              </a:lnSpc>
            </a:pPr>
            <a:r>
              <a:rPr lang="en-US" b="true" sz="1713">
                <a:solidFill>
                  <a:srgbClr val="686B6F"/>
                </a:solidFill>
                <a:latin typeface="Poppins Bold"/>
                <a:ea typeface="Poppins Bold"/>
                <a:cs typeface="Poppins Bold"/>
                <a:sym typeface="Poppins Bold"/>
              </a:rPr>
              <a:t>a impactos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27507" y="8203167"/>
            <a:ext cx="2089978" cy="41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  <a:spcBef>
                <a:spcPct val="0"/>
              </a:spcBef>
            </a:pPr>
            <a:r>
              <a:rPr lang="en-US" b="true" sz="222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ANTI-QUEDAS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56460" y="8699611"/>
            <a:ext cx="2941483" cy="57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"/>
              </a:lnSpc>
              <a:spcBef>
                <a:spcPct val="0"/>
              </a:spcBef>
            </a:pPr>
            <a:r>
              <a:rPr lang="en-US" b="true" sz="1614">
                <a:solidFill>
                  <a:srgbClr val="686B6F"/>
                </a:solidFill>
                <a:latin typeface="Poppins Bold"/>
                <a:ea typeface="Poppins Bold"/>
                <a:cs typeface="Poppins Bold"/>
                <a:sym typeface="Poppins Bold"/>
              </a:rPr>
              <a:t>Equipamentos de </a:t>
            </a:r>
          </a:p>
          <a:p>
            <a:pPr algn="ctr">
              <a:lnSpc>
                <a:spcPts val="2259"/>
              </a:lnSpc>
              <a:spcBef>
                <a:spcPct val="0"/>
              </a:spcBef>
            </a:pPr>
            <a:r>
              <a:rPr lang="en-US" b="true" sz="1614">
                <a:solidFill>
                  <a:srgbClr val="686B6F"/>
                </a:solidFill>
                <a:latin typeface="Poppins Bold"/>
                <a:ea typeface="Poppins Bold"/>
                <a:cs typeface="Poppins Bold"/>
                <a:sym typeface="Poppins Bold"/>
              </a:rPr>
              <a:t>ancoragem e retenção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59524" y="8662794"/>
            <a:ext cx="2926492" cy="63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1"/>
              </a:lnSpc>
              <a:spcBef>
                <a:spcPct val="0"/>
              </a:spcBef>
            </a:pPr>
            <a:r>
              <a:rPr lang="en-US" b="true" sz="1715">
                <a:solidFill>
                  <a:srgbClr val="686B6F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1715">
                <a:solidFill>
                  <a:srgbClr val="686B6F"/>
                </a:solidFill>
                <a:latin typeface="Poppins Bold"/>
                <a:ea typeface="Poppins Bold"/>
                <a:cs typeface="Poppins Bold"/>
                <a:sym typeface="Poppins Bold"/>
              </a:rPr>
              <a:t>etectores de gás e mascaras de proteção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24651" y="8203167"/>
            <a:ext cx="2089978" cy="41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  <a:spcBef>
                <a:spcPct val="0"/>
              </a:spcBef>
            </a:pPr>
            <a:r>
              <a:rPr lang="en-US" b="true" sz="2222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GÁS E 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26780" y="6672474"/>
            <a:ext cx="5695602" cy="111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sz="9533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QUE FAZ?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7872227" y="-2718939"/>
            <a:ext cx="19050" cy="442895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21221" y="753987"/>
            <a:ext cx="7385525" cy="156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54"/>
              </a:lnSpc>
            </a:pPr>
            <a:r>
              <a:rPr lang="en-US" sz="1340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ATUALMENTE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081115" y="1294112"/>
            <a:ext cx="9730207" cy="8270141"/>
            <a:chOff x="0" y="0"/>
            <a:chExt cx="1628916" cy="13844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8916" cy="1384489"/>
            </a:xfrm>
            <a:custGeom>
              <a:avLst/>
              <a:gdLst/>
              <a:ahLst/>
              <a:cxnLst/>
              <a:rect r="r" b="b" t="t" l="l"/>
              <a:pathLst>
                <a:path h="1384489" w="1628916">
                  <a:moveTo>
                    <a:pt x="40579" y="0"/>
                  </a:moveTo>
                  <a:lnTo>
                    <a:pt x="1588338" y="0"/>
                  </a:lnTo>
                  <a:cubicBezTo>
                    <a:pt x="1610749" y="0"/>
                    <a:pt x="1628916" y="18168"/>
                    <a:pt x="1628916" y="40579"/>
                  </a:cubicBezTo>
                  <a:lnTo>
                    <a:pt x="1628916" y="1343911"/>
                  </a:lnTo>
                  <a:cubicBezTo>
                    <a:pt x="1628916" y="1366322"/>
                    <a:pt x="1610749" y="1384489"/>
                    <a:pt x="1588338" y="1384489"/>
                  </a:cubicBezTo>
                  <a:lnTo>
                    <a:pt x="40579" y="1384489"/>
                  </a:lnTo>
                  <a:cubicBezTo>
                    <a:pt x="18168" y="1384489"/>
                    <a:pt x="0" y="1366322"/>
                    <a:pt x="0" y="1343911"/>
                  </a:cubicBezTo>
                  <a:lnTo>
                    <a:pt x="0" y="40579"/>
                  </a:lnTo>
                  <a:cubicBezTo>
                    <a:pt x="0" y="18168"/>
                    <a:pt x="18168" y="0"/>
                    <a:pt x="40579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628916" cy="1441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38102" y="1477892"/>
            <a:ext cx="9316022" cy="125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7"/>
              </a:lnSpc>
              <a:spcBef>
                <a:spcPct val="0"/>
              </a:spcBef>
            </a:pPr>
            <a:r>
              <a:rPr lang="en-US" b="true" sz="356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COMO AS INFORMAÇÕES DA PRODUÇÃO SÃO ACOMPANHADAS HOJE?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15198" y="3113458"/>
            <a:ext cx="8744102" cy="560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65122" indent="-382561" lvl="1">
              <a:lnSpc>
                <a:spcPts val="4961"/>
              </a:lnSpc>
              <a:spcBef>
                <a:spcPct val="0"/>
              </a:spcBef>
              <a:buFont typeface="Arial"/>
              <a:buChar char="•"/>
            </a:pPr>
            <a:r>
              <a:rPr lang="en-US" sz="3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3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egistros de produção em papel</a:t>
            </a:r>
          </a:p>
          <a:p>
            <a:pPr algn="ctr">
              <a:lnSpc>
                <a:spcPts val="4961"/>
              </a:lnSpc>
              <a:spcBef>
                <a:spcPct val="0"/>
              </a:spcBef>
            </a:pPr>
          </a:p>
          <a:p>
            <a:pPr algn="ctr" marL="765122" indent="-382561" lvl="1">
              <a:lnSpc>
                <a:spcPts val="4961"/>
              </a:lnSpc>
              <a:spcBef>
                <a:spcPct val="0"/>
              </a:spcBef>
              <a:buFont typeface="Arial"/>
              <a:buChar char="•"/>
            </a:pPr>
            <a:r>
              <a:rPr lang="en-US" sz="3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 de planilhas e transferência manual dos dados</a:t>
            </a:r>
          </a:p>
          <a:p>
            <a:pPr algn="ctr">
              <a:lnSpc>
                <a:spcPts val="4961"/>
              </a:lnSpc>
              <a:spcBef>
                <a:spcPct val="0"/>
              </a:spcBef>
            </a:pPr>
          </a:p>
          <a:p>
            <a:pPr algn="ctr" marL="765122" indent="-382561" lvl="1">
              <a:lnSpc>
                <a:spcPts val="4961"/>
              </a:lnSpc>
              <a:spcBef>
                <a:spcPct val="0"/>
              </a:spcBef>
              <a:buFont typeface="Arial"/>
              <a:buChar char="•"/>
            </a:pPr>
            <a:r>
              <a:rPr lang="en-US" sz="3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Microparadas difíceis de registrar</a:t>
            </a:r>
          </a:p>
          <a:p>
            <a:pPr algn="ctr">
              <a:lnSpc>
                <a:spcPts val="4961"/>
              </a:lnSpc>
              <a:spcBef>
                <a:spcPct val="0"/>
              </a:spcBef>
            </a:pPr>
          </a:p>
          <a:p>
            <a:pPr algn="ctr" marL="765122" indent="-382561" lvl="1">
              <a:lnSpc>
                <a:spcPts val="4961"/>
              </a:lnSpc>
              <a:spcBef>
                <a:spcPct val="0"/>
              </a:spcBef>
              <a:buFont typeface="Arial"/>
              <a:buChar char="•"/>
            </a:pPr>
            <a:r>
              <a:rPr lang="en-US" sz="3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Informações nem sempre disponíveis em tempo real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494245" y="163548"/>
            <a:ext cx="317077" cy="149891"/>
          </a:xfrm>
          <a:custGeom>
            <a:avLst/>
            <a:gdLst/>
            <a:ahLst/>
            <a:cxnLst/>
            <a:rect r="r" b="b" t="t" l="l"/>
            <a:pathLst>
              <a:path h="149891" w="317077">
                <a:moveTo>
                  <a:pt x="0" y="0"/>
                </a:moveTo>
                <a:lnTo>
                  <a:pt x="317077" y="0"/>
                </a:lnTo>
                <a:lnTo>
                  <a:pt x="317077" y="149890"/>
                </a:lnTo>
                <a:lnTo>
                  <a:pt x="0" y="1498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6644" y="3663037"/>
            <a:ext cx="7504633" cy="422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4"/>
              </a:lnSpc>
            </a:pPr>
            <a:r>
              <a:rPr lang="en-US" sz="36289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80%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653" y="6641820"/>
            <a:ext cx="7437512" cy="130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  <a:spcBef>
                <a:spcPct val="0"/>
              </a:spcBef>
            </a:pPr>
            <a:r>
              <a:rPr lang="en-US" b="true" sz="242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 PROCESSO DE APONTAMENTO E CONTROLE AINDA É REALIZADO DE FORMA MANUAL.</a:t>
            </a:r>
          </a:p>
          <a:p>
            <a:pPr algn="ctr">
              <a:lnSpc>
                <a:spcPts val="3401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1001" y="2320591"/>
            <a:ext cx="1841965" cy="253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2"/>
              </a:lnSpc>
              <a:spcBef>
                <a:spcPct val="0"/>
              </a:spcBef>
            </a:pPr>
            <a:r>
              <a:rPr lang="en-US" b="true" sz="1437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APROXIMADAMENTE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61538" y="9258300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5" y="0"/>
                </a:lnTo>
                <a:lnTo>
                  <a:pt x="1962285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42223" y="612109"/>
            <a:ext cx="317077" cy="149891"/>
          </a:xfrm>
          <a:custGeom>
            <a:avLst/>
            <a:gdLst/>
            <a:ahLst/>
            <a:cxnLst/>
            <a:rect r="r" b="b" t="t" l="l"/>
            <a:pathLst>
              <a:path h="149891" w="317077">
                <a:moveTo>
                  <a:pt x="0" y="0"/>
                </a:moveTo>
                <a:lnTo>
                  <a:pt x="317077" y="0"/>
                </a:lnTo>
                <a:lnTo>
                  <a:pt x="317077" y="149891"/>
                </a:lnTo>
                <a:lnTo>
                  <a:pt x="0" y="149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1538" y="9258300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5" y="0"/>
                </a:lnTo>
                <a:lnTo>
                  <a:pt x="1962285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2989" y="2354919"/>
            <a:ext cx="17462023" cy="6160884"/>
          </a:xfrm>
          <a:custGeom>
            <a:avLst/>
            <a:gdLst/>
            <a:ahLst/>
            <a:cxnLst/>
            <a:rect r="r" b="b" t="t" l="l"/>
            <a:pathLst>
              <a:path h="6160884" w="17462023">
                <a:moveTo>
                  <a:pt x="0" y="0"/>
                </a:moveTo>
                <a:lnTo>
                  <a:pt x="17462022" y="0"/>
                </a:lnTo>
                <a:lnTo>
                  <a:pt x="17462022" y="6160884"/>
                </a:lnTo>
                <a:lnTo>
                  <a:pt x="0" y="6160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12842" y="661208"/>
            <a:ext cx="6125625" cy="169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5"/>
              </a:lnSpc>
            </a:pPr>
            <a:r>
              <a:rPr lang="en-US" sz="14525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IMPACTO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72175" y="1780536"/>
            <a:ext cx="12442978" cy="45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7"/>
              </a:lnSpc>
              <a:spcBef>
                <a:spcPct val="0"/>
              </a:spcBef>
            </a:pPr>
            <a:r>
              <a:rPr lang="en-US" b="true" sz="25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QUANDO O DADO CHEGA TARDE, A DECISÃO TAMBÉM CHEGA.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0614" y="650301"/>
            <a:ext cx="16171767" cy="142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6"/>
              </a:lnSpc>
            </a:pPr>
            <a:r>
              <a:rPr lang="en-US" sz="1213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DESENVOLVIMENTO DO PROJETO</a:t>
            </a:r>
          </a:p>
        </p:txBody>
      </p:sp>
      <p:sp>
        <p:nvSpPr>
          <p:cNvPr name="AutoShape 3" id="3"/>
          <p:cNvSpPr/>
          <p:nvPr/>
        </p:nvSpPr>
        <p:spPr>
          <a:xfrm>
            <a:off x="2566607" y="1858182"/>
            <a:ext cx="1616765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942223" y="612109"/>
            <a:ext cx="317077" cy="149891"/>
          </a:xfrm>
          <a:custGeom>
            <a:avLst/>
            <a:gdLst/>
            <a:ahLst/>
            <a:cxnLst/>
            <a:rect r="r" b="b" t="t" l="l"/>
            <a:pathLst>
              <a:path h="149891" w="317077">
                <a:moveTo>
                  <a:pt x="0" y="0"/>
                </a:moveTo>
                <a:lnTo>
                  <a:pt x="317077" y="0"/>
                </a:lnTo>
                <a:lnTo>
                  <a:pt x="317077" y="149891"/>
                </a:lnTo>
                <a:lnTo>
                  <a:pt x="0" y="149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456701" y="6895696"/>
            <a:ext cx="3510003" cy="1649766"/>
            <a:chOff x="0" y="0"/>
            <a:chExt cx="1008026" cy="4737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8026" cy="473791"/>
            </a:xfrm>
            <a:custGeom>
              <a:avLst/>
              <a:gdLst/>
              <a:ahLst/>
              <a:cxnLst/>
              <a:rect r="r" b="b" t="t" l="l"/>
              <a:pathLst>
                <a:path h="473791" w="1008026">
                  <a:moveTo>
                    <a:pt x="22057" y="0"/>
                  </a:moveTo>
                  <a:lnTo>
                    <a:pt x="985970" y="0"/>
                  </a:lnTo>
                  <a:cubicBezTo>
                    <a:pt x="991819" y="0"/>
                    <a:pt x="997430" y="2324"/>
                    <a:pt x="1001566" y="6460"/>
                  </a:cubicBezTo>
                  <a:cubicBezTo>
                    <a:pt x="1005703" y="10597"/>
                    <a:pt x="1008026" y="16207"/>
                    <a:pt x="1008026" y="22057"/>
                  </a:cubicBezTo>
                  <a:lnTo>
                    <a:pt x="1008026" y="451734"/>
                  </a:lnTo>
                  <a:cubicBezTo>
                    <a:pt x="1008026" y="457584"/>
                    <a:pt x="1005703" y="463194"/>
                    <a:pt x="1001566" y="467331"/>
                  </a:cubicBezTo>
                  <a:cubicBezTo>
                    <a:pt x="997430" y="471467"/>
                    <a:pt x="991819" y="473791"/>
                    <a:pt x="985970" y="473791"/>
                  </a:cubicBezTo>
                  <a:lnTo>
                    <a:pt x="22057" y="473791"/>
                  </a:lnTo>
                  <a:cubicBezTo>
                    <a:pt x="16207" y="473791"/>
                    <a:pt x="10597" y="471467"/>
                    <a:pt x="6460" y="467331"/>
                  </a:cubicBezTo>
                  <a:cubicBezTo>
                    <a:pt x="2324" y="463194"/>
                    <a:pt x="0" y="457584"/>
                    <a:pt x="0" y="451734"/>
                  </a:cubicBezTo>
                  <a:lnTo>
                    <a:pt x="0" y="22057"/>
                  </a:lnTo>
                  <a:cubicBezTo>
                    <a:pt x="0" y="16207"/>
                    <a:pt x="2324" y="10597"/>
                    <a:pt x="6460" y="6460"/>
                  </a:cubicBezTo>
                  <a:cubicBezTo>
                    <a:pt x="10597" y="2324"/>
                    <a:pt x="16207" y="0"/>
                    <a:pt x="220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08026" cy="502366"/>
            </a:xfrm>
            <a:prstGeom prst="rect">
              <a:avLst/>
            </a:prstGeom>
          </p:spPr>
          <p:txBody>
            <a:bodyPr anchor="ctr" rtlCol="false" tIns="41755" lIns="41755" bIns="41755" rIns="41755"/>
            <a:lstStyle/>
            <a:p>
              <a:pPr algn="ctr">
                <a:lnSpc>
                  <a:spcPts val="240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971459">
            <a:off x="5605084" y="6656286"/>
            <a:ext cx="1659504" cy="1004000"/>
          </a:xfrm>
          <a:custGeom>
            <a:avLst/>
            <a:gdLst/>
            <a:ahLst/>
            <a:cxnLst/>
            <a:rect r="r" b="b" t="t" l="l"/>
            <a:pathLst>
              <a:path h="1004000" w="1659504">
                <a:moveTo>
                  <a:pt x="0" y="0"/>
                </a:moveTo>
                <a:lnTo>
                  <a:pt x="1659504" y="0"/>
                </a:lnTo>
                <a:lnTo>
                  <a:pt x="1659504" y="1004000"/>
                </a:lnTo>
                <a:lnTo>
                  <a:pt x="0" y="100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1940" y="3148462"/>
            <a:ext cx="16699526" cy="3712519"/>
            <a:chOff x="0" y="0"/>
            <a:chExt cx="22266035" cy="495002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40576"/>
              <a:ext cx="5291440" cy="2016040"/>
              <a:chOff x="0" y="0"/>
              <a:chExt cx="1139724" cy="43423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39724" cy="434235"/>
              </a:xfrm>
              <a:custGeom>
                <a:avLst/>
                <a:gdLst/>
                <a:ahLst/>
                <a:cxnLst/>
                <a:rect r="r" b="b" t="t" l="l"/>
                <a:pathLst>
                  <a:path h="434235" w="1139724">
                    <a:moveTo>
                      <a:pt x="19508" y="0"/>
                    </a:moveTo>
                    <a:lnTo>
                      <a:pt x="1120216" y="0"/>
                    </a:lnTo>
                    <a:cubicBezTo>
                      <a:pt x="1130989" y="0"/>
                      <a:pt x="1139724" y="8734"/>
                      <a:pt x="1139724" y="19508"/>
                    </a:cubicBezTo>
                    <a:lnTo>
                      <a:pt x="1139724" y="414727"/>
                    </a:lnTo>
                    <a:cubicBezTo>
                      <a:pt x="1139724" y="419901"/>
                      <a:pt x="1137668" y="424863"/>
                      <a:pt x="1134010" y="428521"/>
                    </a:cubicBezTo>
                    <a:cubicBezTo>
                      <a:pt x="1130351" y="432180"/>
                      <a:pt x="1125389" y="434235"/>
                      <a:pt x="1120216" y="434235"/>
                    </a:cubicBezTo>
                    <a:lnTo>
                      <a:pt x="19508" y="434235"/>
                    </a:lnTo>
                    <a:cubicBezTo>
                      <a:pt x="14334" y="434235"/>
                      <a:pt x="9372" y="432180"/>
                      <a:pt x="5714" y="428521"/>
                    </a:cubicBezTo>
                    <a:cubicBezTo>
                      <a:pt x="2055" y="424863"/>
                      <a:pt x="0" y="419901"/>
                      <a:pt x="0" y="414727"/>
                    </a:cubicBezTo>
                    <a:lnTo>
                      <a:pt x="0" y="19508"/>
                    </a:lnTo>
                    <a:cubicBezTo>
                      <a:pt x="0" y="14334"/>
                      <a:pt x="2055" y="9372"/>
                      <a:pt x="5714" y="5714"/>
                    </a:cubicBezTo>
                    <a:cubicBezTo>
                      <a:pt x="9372" y="2055"/>
                      <a:pt x="14334" y="0"/>
                      <a:pt x="1950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1139724" cy="462810"/>
              </a:xfrm>
              <a:prstGeom prst="rect">
                <a:avLst/>
              </a:prstGeom>
            </p:spPr>
            <p:txBody>
              <a:bodyPr anchor="ctr" rtlCol="false" tIns="41755" lIns="41755" bIns="41755" rIns="41755"/>
              <a:lstStyle/>
              <a:p>
                <a:pPr algn="ctr">
                  <a:lnSpc>
                    <a:spcPts val="2401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093171" y="2748693"/>
              <a:ext cx="5249915" cy="2082639"/>
              <a:chOff x="0" y="0"/>
              <a:chExt cx="1130780" cy="4485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30780" cy="448580"/>
              </a:xfrm>
              <a:custGeom>
                <a:avLst/>
                <a:gdLst/>
                <a:ahLst/>
                <a:cxnLst/>
                <a:rect r="r" b="b" t="t" l="l"/>
                <a:pathLst>
                  <a:path h="448580" w="1130780">
                    <a:moveTo>
                      <a:pt x="19662" y="0"/>
                    </a:moveTo>
                    <a:lnTo>
                      <a:pt x="1111117" y="0"/>
                    </a:lnTo>
                    <a:cubicBezTo>
                      <a:pt x="1121976" y="0"/>
                      <a:pt x="1130780" y="8803"/>
                      <a:pt x="1130780" y="19662"/>
                    </a:cubicBezTo>
                    <a:lnTo>
                      <a:pt x="1130780" y="428917"/>
                    </a:lnTo>
                    <a:cubicBezTo>
                      <a:pt x="1130780" y="439777"/>
                      <a:pt x="1121976" y="448580"/>
                      <a:pt x="1111117" y="448580"/>
                    </a:cubicBezTo>
                    <a:lnTo>
                      <a:pt x="19662" y="448580"/>
                    </a:lnTo>
                    <a:cubicBezTo>
                      <a:pt x="8803" y="448580"/>
                      <a:pt x="0" y="439777"/>
                      <a:pt x="0" y="428917"/>
                    </a:cubicBezTo>
                    <a:lnTo>
                      <a:pt x="0" y="19662"/>
                    </a:lnTo>
                    <a:cubicBezTo>
                      <a:pt x="0" y="8803"/>
                      <a:pt x="8803" y="0"/>
                      <a:pt x="1966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1130780" cy="477155"/>
              </a:xfrm>
              <a:prstGeom prst="rect">
                <a:avLst/>
              </a:prstGeom>
            </p:spPr>
            <p:txBody>
              <a:bodyPr anchor="ctr" rtlCol="false" tIns="41755" lIns="41755" bIns="41755" rIns="41755"/>
              <a:lstStyle/>
              <a:p>
                <a:pPr algn="ctr">
                  <a:lnSpc>
                    <a:spcPts val="2401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8906430" y="40576"/>
              <a:ext cx="4982077" cy="2016040"/>
              <a:chOff x="0" y="0"/>
              <a:chExt cx="1073090" cy="43423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73090" cy="434235"/>
              </a:xfrm>
              <a:custGeom>
                <a:avLst/>
                <a:gdLst/>
                <a:ahLst/>
                <a:cxnLst/>
                <a:rect r="r" b="b" t="t" l="l"/>
                <a:pathLst>
                  <a:path h="434235" w="1073090">
                    <a:moveTo>
                      <a:pt x="20719" y="0"/>
                    </a:moveTo>
                    <a:lnTo>
                      <a:pt x="1052371" y="0"/>
                    </a:lnTo>
                    <a:cubicBezTo>
                      <a:pt x="1063814" y="0"/>
                      <a:pt x="1073090" y="9276"/>
                      <a:pt x="1073090" y="20719"/>
                    </a:cubicBezTo>
                    <a:lnTo>
                      <a:pt x="1073090" y="413516"/>
                    </a:lnTo>
                    <a:cubicBezTo>
                      <a:pt x="1073090" y="419011"/>
                      <a:pt x="1070907" y="424281"/>
                      <a:pt x="1067021" y="428167"/>
                    </a:cubicBezTo>
                    <a:cubicBezTo>
                      <a:pt x="1063136" y="432052"/>
                      <a:pt x="1057866" y="434235"/>
                      <a:pt x="1052371" y="434235"/>
                    </a:cubicBezTo>
                    <a:lnTo>
                      <a:pt x="20719" y="434235"/>
                    </a:lnTo>
                    <a:cubicBezTo>
                      <a:pt x="15224" y="434235"/>
                      <a:pt x="9954" y="432052"/>
                      <a:pt x="6069" y="428167"/>
                    </a:cubicBezTo>
                    <a:cubicBezTo>
                      <a:pt x="2183" y="424281"/>
                      <a:pt x="0" y="419011"/>
                      <a:pt x="0" y="413516"/>
                    </a:cubicBezTo>
                    <a:lnTo>
                      <a:pt x="0" y="20719"/>
                    </a:lnTo>
                    <a:cubicBezTo>
                      <a:pt x="0" y="15224"/>
                      <a:pt x="2183" y="9954"/>
                      <a:pt x="6069" y="6069"/>
                    </a:cubicBezTo>
                    <a:cubicBezTo>
                      <a:pt x="9954" y="2183"/>
                      <a:pt x="15224" y="0"/>
                      <a:pt x="2071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28575"/>
                <a:ext cx="1073090" cy="462810"/>
              </a:xfrm>
              <a:prstGeom prst="rect">
                <a:avLst/>
              </a:prstGeom>
            </p:spPr>
            <p:txBody>
              <a:bodyPr anchor="ctr" rtlCol="false" tIns="41755" lIns="41755" bIns="41755" rIns="41755"/>
              <a:lstStyle/>
              <a:p>
                <a:pPr algn="ctr">
                  <a:lnSpc>
                    <a:spcPts val="2401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3340074" y="2748693"/>
              <a:ext cx="4829450" cy="2194993"/>
              <a:chOff x="0" y="0"/>
              <a:chExt cx="1040216" cy="47278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40216" cy="472780"/>
              </a:xfrm>
              <a:custGeom>
                <a:avLst/>
                <a:gdLst/>
                <a:ahLst/>
                <a:cxnLst/>
                <a:rect r="r" b="b" t="t" l="l"/>
                <a:pathLst>
                  <a:path h="472780" w="1040216">
                    <a:moveTo>
                      <a:pt x="21374" y="0"/>
                    </a:moveTo>
                    <a:lnTo>
                      <a:pt x="1018841" y="0"/>
                    </a:lnTo>
                    <a:cubicBezTo>
                      <a:pt x="1024510" y="0"/>
                      <a:pt x="1029947" y="2252"/>
                      <a:pt x="1033955" y="6260"/>
                    </a:cubicBezTo>
                    <a:cubicBezTo>
                      <a:pt x="1037964" y="10269"/>
                      <a:pt x="1040216" y="15705"/>
                      <a:pt x="1040216" y="21374"/>
                    </a:cubicBezTo>
                    <a:lnTo>
                      <a:pt x="1040216" y="451406"/>
                    </a:lnTo>
                    <a:cubicBezTo>
                      <a:pt x="1040216" y="457074"/>
                      <a:pt x="1037964" y="462511"/>
                      <a:pt x="1033955" y="466519"/>
                    </a:cubicBezTo>
                    <a:cubicBezTo>
                      <a:pt x="1029947" y="470528"/>
                      <a:pt x="1024510" y="472780"/>
                      <a:pt x="1018841" y="472780"/>
                    </a:cubicBezTo>
                    <a:lnTo>
                      <a:pt x="21374" y="472780"/>
                    </a:lnTo>
                    <a:cubicBezTo>
                      <a:pt x="15705" y="472780"/>
                      <a:pt x="10269" y="470528"/>
                      <a:pt x="6260" y="466519"/>
                    </a:cubicBezTo>
                    <a:cubicBezTo>
                      <a:pt x="2252" y="462511"/>
                      <a:pt x="0" y="457074"/>
                      <a:pt x="0" y="451406"/>
                    </a:cubicBezTo>
                    <a:lnTo>
                      <a:pt x="0" y="21374"/>
                    </a:lnTo>
                    <a:cubicBezTo>
                      <a:pt x="0" y="15705"/>
                      <a:pt x="2252" y="10269"/>
                      <a:pt x="6260" y="6260"/>
                    </a:cubicBezTo>
                    <a:cubicBezTo>
                      <a:pt x="10269" y="2252"/>
                      <a:pt x="15705" y="0"/>
                      <a:pt x="2137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28575"/>
                <a:ext cx="1040216" cy="501355"/>
              </a:xfrm>
              <a:prstGeom prst="rect">
                <a:avLst/>
              </a:prstGeom>
            </p:spPr>
            <p:txBody>
              <a:bodyPr anchor="ctr" rtlCol="false" tIns="41755" lIns="41755" bIns="41755" rIns="41755"/>
              <a:lstStyle/>
              <a:p>
                <a:pPr algn="ctr">
                  <a:lnSpc>
                    <a:spcPts val="2401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279456" y="0"/>
              <a:ext cx="4986579" cy="1897165"/>
              <a:chOff x="0" y="0"/>
              <a:chExt cx="1074060" cy="408631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74060" cy="408631"/>
              </a:xfrm>
              <a:custGeom>
                <a:avLst/>
                <a:gdLst/>
                <a:ahLst/>
                <a:cxnLst/>
                <a:rect r="r" b="b" t="t" l="l"/>
                <a:pathLst>
                  <a:path h="408631" w="1074060">
                    <a:moveTo>
                      <a:pt x="20701" y="0"/>
                    </a:moveTo>
                    <a:lnTo>
                      <a:pt x="1053359" y="0"/>
                    </a:lnTo>
                    <a:cubicBezTo>
                      <a:pt x="1058849" y="0"/>
                      <a:pt x="1064114" y="2181"/>
                      <a:pt x="1067997" y="6063"/>
                    </a:cubicBezTo>
                    <a:cubicBezTo>
                      <a:pt x="1071879" y="9945"/>
                      <a:pt x="1074060" y="15211"/>
                      <a:pt x="1074060" y="20701"/>
                    </a:cubicBezTo>
                    <a:lnTo>
                      <a:pt x="1074060" y="387930"/>
                    </a:lnTo>
                    <a:cubicBezTo>
                      <a:pt x="1074060" y="399363"/>
                      <a:pt x="1064792" y="408631"/>
                      <a:pt x="1053359" y="408631"/>
                    </a:cubicBezTo>
                    <a:lnTo>
                      <a:pt x="20701" y="408631"/>
                    </a:lnTo>
                    <a:cubicBezTo>
                      <a:pt x="9268" y="408631"/>
                      <a:pt x="0" y="399363"/>
                      <a:pt x="0" y="387930"/>
                    </a:cubicBezTo>
                    <a:lnTo>
                      <a:pt x="0" y="20701"/>
                    </a:lnTo>
                    <a:cubicBezTo>
                      <a:pt x="0" y="15211"/>
                      <a:pt x="2181" y="9945"/>
                      <a:pt x="6063" y="6063"/>
                    </a:cubicBezTo>
                    <a:cubicBezTo>
                      <a:pt x="9945" y="2181"/>
                      <a:pt x="15211" y="0"/>
                      <a:pt x="2070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1074060" cy="437206"/>
              </a:xfrm>
              <a:prstGeom prst="rect">
                <a:avLst/>
              </a:prstGeom>
            </p:spPr>
            <p:txBody>
              <a:bodyPr anchor="ctr" rtlCol="false" tIns="41755" lIns="41755" bIns="41755" rIns="41755"/>
              <a:lstStyle/>
              <a:p>
                <a:pPr algn="ctr">
                  <a:lnSpc>
                    <a:spcPts val="2401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5291440" y="973849"/>
              <a:ext cx="2776766" cy="555353"/>
            </a:xfrm>
            <a:custGeom>
              <a:avLst/>
              <a:gdLst/>
              <a:ahLst/>
              <a:cxnLst/>
              <a:rect r="r" b="b" t="t" l="l"/>
              <a:pathLst>
                <a:path h="555353" w="2776766">
                  <a:moveTo>
                    <a:pt x="0" y="0"/>
                  </a:moveTo>
                  <a:lnTo>
                    <a:pt x="2776766" y="0"/>
                  </a:lnTo>
                  <a:lnTo>
                    <a:pt x="2776766" y="555353"/>
                  </a:lnTo>
                  <a:lnTo>
                    <a:pt x="0" y="55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4197890" y="973849"/>
              <a:ext cx="2776766" cy="555353"/>
            </a:xfrm>
            <a:custGeom>
              <a:avLst/>
              <a:gdLst/>
              <a:ahLst/>
              <a:cxnLst/>
              <a:rect r="r" b="b" t="t" l="l"/>
              <a:pathLst>
                <a:path h="555353" w="2776766">
                  <a:moveTo>
                    <a:pt x="0" y="0"/>
                  </a:moveTo>
                  <a:lnTo>
                    <a:pt x="2776766" y="0"/>
                  </a:lnTo>
                  <a:lnTo>
                    <a:pt x="2776766" y="555353"/>
                  </a:lnTo>
                  <a:lnTo>
                    <a:pt x="0" y="55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2815056">
              <a:off x="19093366" y="1640968"/>
              <a:ext cx="940076" cy="2937738"/>
            </a:xfrm>
            <a:custGeom>
              <a:avLst/>
              <a:gdLst/>
              <a:ahLst/>
              <a:cxnLst/>
              <a:rect r="r" b="b" t="t" l="l"/>
              <a:pathLst>
                <a:path h="2937738" w="940076">
                  <a:moveTo>
                    <a:pt x="0" y="0"/>
                  </a:moveTo>
                  <a:lnTo>
                    <a:pt x="940076" y="0"/>
                  </a:lnTo>
                  <a:lnTo>
                    <a:pt x="940076" y="2937738"/>
                  </a:lnTo>
                  <a:lnTo>
                    <a:pt x="0" y="2937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-10800000">
              <a:off x="9952686" y="3367605"/>
              <a:ext cx="2776766" cy="555353"/>
            </a:xfrm>
            <a:custGeom>
              <a:avLst/>
              <a:gdLst/>
              <a:ahLst/>
              <a:cxnLst/>
              <a:rect r="r" b="b" t="t" l="l"/>
              <a:pathLst>
                <a:path h="555353" w="2776766">
                  <a:moveTo>
                    <a:pt x="0" y="0"/>
                  </a:moveTo>
                  <a:lnTo>
                    <a:pt x="2776766" y="0"/>
                  </a:lnTo>
                  <a:lnTo>
                    <a:pt x="2776766" y="555353"/>
                  </a:lnTo>
                  <a:lnTo>
                    <a:pt x="0" y="55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4093171" y="2844970"/>
              <a:ext cx="5249915" cy="182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5"/>
                </a:lnSpc>
              </a:pPr>
              <a:r>
                <a:rPr lang="en-US" b="true" sz="1975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05 —</a:t>
              </a:r>
              <a:r>
                <a:rPr lang="en-US" b="true" sz="1975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IDEAÇÃO</a:t>
              </a:r>
            </a:p>
            <a:p>
              <a:pPr algn="ctr">
                <a:lnSpc>
                  <a:spcPts val="2765"/>
                </a:lnSpc>
                <a:spcBef>
                  <a:spcPct val="0"/>
                </a:spcBef>
              </a:pPr>
              <a:r>
                <a:rPr lang="en-US" sz="1975">
                  <a:solidFill>
                    <a:srgbClr val="00995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PENSAMOS EM UMA FORMA MAIS SIMPLES E INTEGRADA DE ACOMPANHAR A PRODUÇÃO.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8867287" y="96817"/>
              <a:ext cx="5021220" cy="1979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05"/>
                </a:lnSpc>
              </a:pPr>
              <a:r>
                <a:rPr lang="en-US" b="true" sz="2075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02 —</a:t>
              </a:r>
              <a:r>
                <a:rPr lang="en-US" b="true" sz="2075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ENTREVISTA</a:t>
              </a:r>
            </a:p>
            <a:p>
              <a:pPr algn="ctr">
                <a:lnSpc>
                  <a:spcPts val="2905"/>
                </a:lnSpc>
                <a:spcBef>
                  <a:spcPct val="0"/>
                </a:spcBef>
              </a:pPr>
              <a:r>
                <a:rPr lang="en-US" b="true" sz="2075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  <a:r>
                <a:rPr lang="en-US" sz="2075">
                  <a:solidFill>
                    <a:srgbClr val="00995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CONVERSAMOS COM QUEM ACOMPANHA A PRODUÇÃO DIARIAMENTE.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7279456" y="2476"/>
              <a:ext cx="4986579" cy="183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86"/>
                </a:lnSpc>
              </a:pPr>
              <a:r>
                <a:rPr lang="en-US" b="true" sz="1918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03 —</a:t>
              </a:r>
              <a:r>
                <a:rPr lang="en-US" b="true" sz="1918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IMERSÃO</a:t>
              </a:r>
            </a:p>
            <a:p>
              <a:pPr algn="ctr">
                <a:lnSpc>
                  <a:spcPts val="2686"/>
                </a:lnSpc>
                <a:spcBef>
                  <a:spcPct val="0"/>
                </a:spcBef>
              </a:pPr>
              <a:r>
                <a:rPr lang="en-US" b="true" sz="1918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  <a:r>
                <a:rPr lang="en-US" sz="1918">
                  <a:solidFill>
                    <a:srgbClr val="00995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CONHECEMOS A ROTINA E IDENTIFICAMOS AS PRINCIPAIS DIFICULDADES.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3114914" y="2720118"/>
              <a:ext cx="5279769" cy="2229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45"/>
                </a:lnSpc>
              </a:pPr>
              <a:r>
                <a:rPr lang="en-US" b="true" sz="1675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04 —</a:t>
              </a:r>
              <a:r>
                <a:rPr lang="en-US" b="true" sz="1675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ANÁLISE</a:t>
              </a:r>
            </a:p>
            <a:p>
              <a:pPr algn="ctr">
                <a:lnSpc>
                  <a:spcPts val="2765"/>
                </a:lnSpc>
                <a:spcBef>
                  <a:spcPct val="0"/>
                </a:spcBef>
              </a:pPr>
              <a:r>
                <a:rPr lang="en-US" sz="1975">
                  <a:solidFill>
                    <a:srgbClr val="00995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ORGANIZAMOS AS INFORMAÇÕES E ENCONTRAMOS OS PONTOS CRÍTICOS.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47625"/>
              <a:ext cx="4925949" cy="2144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</a:pPr>
              <a:r>
                <a:rPr lang="en-US" b="true" sz="2275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01 —</a:t>
              </a:r>
              <a:r>
                <a:rPr lang="en-US" b="true" sz="2275">
                  <a:solidFill>
                    <a:srgbClr val="00995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PESQUISA</a:t>
              </a:r>
            </a:p>
            <a:p>
              <a:pPr algn="ctr">
                <a:lnSpc>
                  <a:spcPts val="3185"/>
                </a:lnSpc>
                <a:spcBef>
                  <a:spcPct val="0"/>
                </a:spcBef>
              </a:pPr>
              <a:r>
                <a:rPr lang="en-US" sz="2275">
                  <a:solidFill>
                    <a:srgbClr val="00995B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ENTENDEMOS O DESAFIO E O PROCESSO PRODUTIVO.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7527069" y="6969091"/>
            <a:ext cx="3369268" cy="177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5"/>
              </a:lnSpc>
            </a:pPr>
            <a:r>
              <a:rPr lang="en-US" b="true" sz="1675">
                <a:solidFill>
                  <a:srgbClr val="00995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06 —</a:t>
            </a:r>
            <a:r>
              <a:rPr lang="en-US" b="true" sz="1675">
                <a:solidFill>
                  <a:srgbClr val="00995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PROTÓTIPO</a:t>
            </a:r>
          </a:p>
          <a:p>
            <a:pPr algn="ctr">
              <a:lnSpc>
                <a:spcPts val="2345"/>
              </a:lnSpc>
            </a:pPr>
            <a:r>
              <a:rPr lang="en-US" sz="1675">
                <a:solidFill>
                  <a:srgbClr val="00995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TRANSFORMAMOS A IDEIA NA PRIMEIRA VERSÃO DO SISTEMA DE MONITORAMENTO E GESTÃO DA PRODUÇÃO DA MSA</a:t>
            </a:r>
          </a:p>
          <a:p>
            <a:pPr algn="ctr">
              <a:lnSpc>
                <a:spcPts val="2345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085259" y="8851333"/>
            <a:ext cx="14184389" cy="441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  <a:spcBef>
                <a:spcPct val="0"/>
              </a:spcBef>
            </a:pPr>
            <a:r>
              <a:rPr lang="en-US" b="true" sz="2498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CADA ETAPA APROXIMOU NOSSA IDEIA DE UMA SOLUÇÃO PARA UM PROBLEMA REAL.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261538" y="9258300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5" y="0"/>
                </a:lnTo>
                <a:lnTo>
                  <a:pt x="1962285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1602442"/>
            <a:ext cx="16230600" cy="0"/>
          </a:xfrm>
          <a:prstGeom prst="line">
            <a:avLst/>
          </a:prstGeom>
          <a:ln cap="flat" w="19050">
            <a:solidFill>
              <a:srgbClr val="4D4D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9071238"/>
            <a:ext cx="16230600" cy="0"/>
          </a:xfrm>
          <a:prstGeom prst="line">
            <a:avLst/>
          </a:prstGeom>
          <a:ln cap="flat" w="19050">
            <a:solidFill>
              <a:srgbClr val="4D4D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691359" y="2251628"/>
            <a:ext cx="6905281" cy="345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  <a:spcBef>
                <a:spcPct val="0"/>
              </a:spcBef>
            </a:pPr>
            <a:r>
              <a:rPr lang="en-US" b="true" sz="1843">
                <a:solidFill>
                  <a:srgbClr val="4D4D4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MONI</a:t>
            </a:r>
            <a:r>
              <a:rPr lang="en-US" b="true" sz="1843">
                <a:solidFill>
                  <a:srgbClr val="4D4D4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TORAMENTO E GESTÃO INTELIGENTE DA PRODUÇÃO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04668"/>
            <a:ext cx="16540332" cy="133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9770" spc="-498">
                <a:solidFill>
                  <a:srgbClr val="01995B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CONH</a:t>
            </a:r>
            <a:r>
              <a:rPr lang="en-US" sz="9770" spc="-498">
                <a:solidFill>
                  <a:srgbClr val="01995B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EÇA a solução digital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1011" y="3832431"/>
            <a:ext cx="8383862" cy="392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224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PLATAFO</a:t>
            </a:r>
            <a:r>
              <a:rPr lang="en-US" sz="224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RMA DE MONITORAMENTO QUE TRANSFORMA OS DADOS JÁ GERADOS PELAS MÁQUINAS EM INFORMAÇÕES ORGANIZADAS PARA ACOMPANHAR A PRODUÇÃO.</a:t>
            </a:r>
          </a:p>
          <a:p>
            <a:pPr algn="ctr">
              <a:lnSpc>
                <a:spcPts val="3138"/>
              </a:lnSpc>
            </a:pPr>
          </a:p>
          <a:p>
            <a:pPr algn="ctr">
              <a:lnSpc>
                <a:spcPts val="3138"/>
              </a:lnSpc>
            </a:pPr>
            <a:r>
              <a:rPr lang="en-US" sz="2242">
                <a:solidFill>
                  <a:srgbClr val="343434"/>
                </a:solidFill>
                <a:latin typeface="Poppins"/>
                <a:ea typeface="Poppins"/>
                <a:cs typeface="Poppins"/>
                <a:sym typeface="Poppins"/>
              </a:rPr>
              <a:t>A PROPOSTA APROVEITA OS SINAIS DOS SENSORES EXISTENTES, UTILIZANDO O ESP32 PARA COLETAR E TRANSMITIR OS DADOS AO SISTEMA, FACILITANDO A VISUALIZAÇÃO DE INDICADORES, PARADAS E DESVIOS DO PROCESSO.</a:t>
            </a:r>
          </a:p>
          <a:p>
            <a:pPr algn="ctr">
              <a:lnSpc>
                <a:spcPts val="313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75589" y="8513614"/>
            <a:ext cx="15936822" cy="362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3"/>
              </a:lnSpc>
            </a:pPr>
            <a:r>
              <a:rPr lang="en-US" b="true" sz="2016">
                <a:solidFill>
                  <a:srgbClr val="34343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</a:t>
            </a:r>
            <a:r>
              <a:rPr lang="en-US" b="true" sz="2016">
                <a:solidFill>
                  <a:srgbClr val="343434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SISTEMA TRANSFORMA DADOS COLETADOS NA PRODUÇÃO EM INFORMAÇÕES PARA TOMADA DE DECISÃO.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090233" y="4345293"/>
            <a:ext cx="2436739" cy="798207"/>
            <a:chOff x="0" y="0"/>
            <a:chExt cx="721706" cy="2364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1706" cy="236411"/>
            </a:xfrm>
            <a:custGeom>
              <a:avLst/>
              <a:gdLst/>
              <a:ahLst/>
              <a:cxnLst/>
              <a:rect r="r" b="b" t="t" l="l"/>
              <a:pathLst>
                <a:path h="236411" w="721706">
                  <a:moveTo>
                    <a:pt x="31772" y="0"/>
                  </a:moveTo>
                  <a:lnTo>
                    <a:pt x="689935" y="0"/>
                  </a:lnTo>
                  <a:cubicBezTo>
                    <a:pt x="698361" y="0"/>
                    <a:pt x="706442" y="3347"/>
                    <a:pt x="712401" y="9306"/>
                  </a:cubicBezTo>
                  <a:cubicBezTo>
                    <a:pt x="718359" y="15264"/>
                    <a:pt x="721706" y="23345"/>
                    <a:pt x="721706" y="31772"/>
                  </a:cubicBezTo>
                  <a:lnTo>
                    <a:pt x="721706" y="204639"/>
                  </a:lnTo>
                  <a:cubicBezTo>
                    <a:pt x="721706" y="222186"/>
                    <a:pt x="707482" y="236411"/>
                    <a:pt x="689935" y="236411"/>
                  </a:cubicBezTo>
                  <a:lnTo>
                    <a:pt x="31772" y="236411"/>
                  </a:lnTo>
                  <a:cubicBezTo>
                    <a:pt x="14225" y="236411"/>
                    <a:pt x="0" y="222186"/>
                    <a:pt x="0" y="204639"/>
                  </a:cubicBezTo>
                  <a:lnTo>
                    <a:pt x="0" y="31772"/>
                  </a:lnTo>
                  <a:cubicBezTo>
                    <a:pt x="0" y="23345"/>
                    <a:pt x="3347" y="15264"/>
                    <a:pt x="9306" y="9306"/>
                  </a:cubicBezTo>
                  <a:cubicBezTo>
                    <a:pt x="15264" y="3347"/>
                    <a:pt x="23345" y="0"/>
                    <a:pt x="31772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21706" cy="264986"/>
            </a:xfrm>
            <a:prstGeom prst="rect">
              <a:avLst/>
            </a:prstGeom>
          </p:spPr>
          <p:txBody>
            <a:bodyPr anchor="ctr" rtlCol="false" tIns="42939" lIns="42939" bIns="42939" rIns="42939"/>
            <a:lstStyle/>
            <a:p>
              <a:pPr algn="ctr">
                <a:lnSpc>
                  <a:spcPts val="2401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1581442" y="4567725"/>
            <a:ext cx="562019" cy="0"/>
          </a:xfrm>
          <a:prstGeom prst="line">
            <a:avLst/>
          </a:prstGeom>
          <a:ln cap="flat" w="38100">
            <a:solidFill>
              <a:srgbClr val="4D4D4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9440565" y="3550768"/>
            <a:ext cx="8071087" cy="41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4"/>
              </a:lnSpc>
              <a:spcBef>
                <a:spcPct val="0"/>
              </a:spcBef>
            </a:pPr>
            <a:r>
              <a:rPr lang="en-US" b="true" sz="2195">
                <a:solidFill>
                  <a:srgbClr val="4D4D4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</a:t>
            </a:r>
            <a:r>
              <a:rPr lang="en-US" b="true" sz="2195">
                <a:solidFill>
                  <a:srgbClr val="4D4D4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 O DADO PERCORRE A MÁQUINA ATÉ O SISTEMA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257739" y="4345551"/>
            <a:ext cx="2436739" cy="744290"/>
            <a:chOff x="0" y="0"/>
            <a:chExt cx="721706" cy="2204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1706" cy="220442"/>
            </a:xfrm>
            <a:custGeom>
              <a:avLst/>
              <a:gdLst/>
              <a:ahLst/>
              <a:cxnLst/>
              <a:rect r="r" b="b" t="t" l="l"/>
              <a:pathLst>
                <a:path h="220442" w="721706">
                  <a:moveTo>
                    <a:pt x="31772" y="0"/>
                  </a:moveTo>
                  <a:lnTo>
                    <a:pt x="689935" y="0"/>
                  </a:lnTo>
                  <a:cubicBezTo>
                    <a:pt x="698361" y="0"/>
                    <a:pt x="706442" y="3347"/>
                    <a:pt x="712401" y="9306"/>
                  </a:cubicBezTo>
                  <a:cubicBezTo>
                    <a:pt x="718359" y="15264"/>
                    <a:pt x="721706" y="23345"/>
                    <a:pt x="721706" y="31772"/>
                  </a:cubicBezTo>
                  <a:lnTo>
                    <a:pt x="721706" y="188670"/>
                  </a:lnTo>
                  <a:cubicBezTo>
                    <a:pt x="721706" y="206217"/>
                    <a:pt x="707482" y="220442"/>
                    <a:pt x="689935" y="220442"/>
                  </a:cubicBezTo>
                  <a:lnTo>
                    <a:pt x="31772" y="220442"/>
                  </a:lnTo>
                  <a:cubicBezTo>
                    <a:pt x="23345" y="220442"/>
                    <a:pt x="15264" y="217094"/>
                    <a:pt x="9306" y="211136"/>
                  </a:cubicBezTo>
                  <a:cubicBezTo>
                    <a:pt x="3347" y="205178"/>
                    <a:pt x="0" y="197096"/>
                    <a:pt x="0" y="188670"/>
                  </a:cubicBezTo>
                  <a:lnTo>
                    <a:pt x="0" y="31772"/>
                  </a:lnTo>
                  <a:cubicBezTo>
                    <a:pt x="0" y="23345"/>
                    <a:pt x="3347" y="15264"/>
                    <a:pt x="9306" y="9306"/>
                  </a:cubicBezTo>
                  <a:cubicBezTo>
                    <a:pt x="15264" y="3347"/>
                    <a:pt x="23345" y="0"/>
                    <a:pt x="31772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721706" cy="249017"/>
            </a:xfrm>
            <a:prstGeom prst="rect">
              <a:avLst/>
            </a:prstGeom>
          </p:spPr>
          <p:txBody>
            <a:bodyPr anchor="ctr" rtlCol="false" tIns="42939" lIns="42939" bIns="42939" rIns="42939"/>
            <a:lstStyle/>
            <a:p>
              <a:pPr algn="ctr">
                <a:lnSpc>
                  <a:spcPts val="240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82174" y="4345551"/>
            <a:ext cx="2436739" cy="505343"/>
            <a:chOff x="0" y="0"/>
            <a:chExt cx="721706" cy="149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1706" cy="149671"/>
            </a:xfrm>
            <a:custGeom>
              <a:avLst/>
              <a:gdLst/>
              <a:ahLst/>
              <a:cxnLst/>
              <a:rect r="r" b="b" t="t" l="l"/>
              <a:pathLst>
                <a:path h="149671" w="721706">
                  <a:moveTo>
                    <a:pt x="31772" y="0"/>
                  </a:moveTo>
                  <a:lnTo>
                    <a:pt x="689935" y="0"/>
                  </a:lnTo>
                  <a:cubicBezTo>
                    <a:pt x="698361" y="0"/>
                    <a:pt x="706442" y="3347"/>
                    <a:pt x="712401" y="9306"/>
                  </a:cubicBezTo>
                  <a:cubicBezTo>
                    <a:pt x="718359" y="15264"/>
                    <a:pt x="721706" y="23345"/>
                    <a:pt x="721706" y="31772"/>
                  </a:cubicBezTo>
                  <a:lnTo>
                    <a:pt x="721706" y="117899"/>
                  </a:lnTo>
                  <a:cubicBezTo>
                    <a:pt x="721706" y="135446"/>
                    <a:pt x="707482" y="149671"/>
                    <a:pt x="689935" y="149671"/>
                  </a:cubicBezTo>
                  <a:lnTo>
                    <a:pt x="31772" y="149671"/>
                  </a:lnTo>
                  <a:cubicBezTo>
                    <a:pt x="23345" y="149671"/>
                    <a:pt x="15264" y="146324"/>
                    <a:pt x="9306" y="140365"/>
                  </a:cubicBezTo>
                  <a:cubicBezTo>
                    <a:pt x="3347" y="134407"/>
                    <a:pt x="0" y="126326"/>
                    <a:pt x="0" y="117899"/>
                  </a:cubicBezTo>
                  <a:lnTo>
                    <a:pt x="0" y="31772"/>
                  </a:lnTo>
                  <a:cubicBezTo>
                    <a:pt x="0" y="23345"/>
                    <a:pt x="3347" y="15264"/>
                    <a:pt x="9306" y="9306"/>
                  </a:cubicBezTo>
                  <a:cubicBezTo>
                    <a:pt x="15264" y="3347"/>
                    <a:pt x="23345" y="0"/>
                    <a:pt x="31772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721706" cy="178246"/>
            </a:xfrm>
            <a:prstGeom prst="rect">
              <a:avLst/>
            </a:prstGeom>
          </p:spPr>
          <p:txBody>
            <a:bodyPr anchor="ctr" rtlCol="false" tIns="42939" lIns="42939" bIns="42939" rIns="42939"/>
            <a:lstStyle/>
            <a:p>
              <a:pPr algn="ctr">
                <a:lnSpc>
                  <a:spcPts val="240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838687" y="4398034"/>
            <a:ext cx="6926960" cy="69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  <a:spcBef>
                <a:spcPct val="0"/>
              </a:spcBef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SENSO</a:t>
            </a: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 DA</a:t>
            </a:r>
          </a:p>
          <a:p>
            <a:pPr algn="ctr">
              <a:lnSpc>
                <a:spcPts val="2818"/>
              </a:lnSpc>
              <a:spcBef>
                <a:spcPct val="0"/>
              </a:spcBef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MÁQUINA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11189" y="4398034"/>
            <a:ext cx="6926960" cy="69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COLETA DO </a:t>
            </a:r>
          </a:p>
          <a:p>
            <a:pPr algn="ctr">
              <a:lnSpc>
                <a:spcPts val="2818"/>
              </a:lnSpc>
              <a:spcBef>
                <a:spcPct val="0"/>
              </a:spcBef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SINAL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230121" y="4398034"/>
            <a:ext cx="6926960" cy="33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  <a:spcBef>
                <a:spcPct val="0"/>
              </a:spcBef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SP32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4798094" y="4617272"/>
            <a:ext cx="562019" cy="0"/>
          </a:xfrm>
          <a:prstGeom prst="line">
            <a:avLst/>
          </a:prstGeom>
          <a:ln cap="flat" w="38100">
            <a:solidFill>
              <a:srgbClr val="4D4D4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9090233" y="5653039"/>
            <a:ext cx="2436739" cy="1398319"/>
            <a:chOff x="0" y="0"/>
            <a:chExt cx="721706" cy="4141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1706" cy="414150"/>
            </a:xfrm>
            <a:custGeom>
              <a:avLst/>
              <a:gdLst/>
              <a:ahLst/>
              <a:cxnLst/>
              <a:rect r="r" b="b" t="t" l="l"/>
              <a:pathLst>
                <a:path h="414150" w="721706">
                  <a:moveTo>
                    <a:pt x="31772" y="0"/>
                  </a:moveTo>
                  <a:lnTo>
                    <a:pt x="689935" y="0"/>
                  </a:lnTo>
                  <a:cubicBezTo>
                    <a:pt x="698361" y="0"/>
                    <a:pt x="706442" y="3347"/>
                    <a:pt x="712401" y="9306"/>
                  </a:cubicBezTo>
                  <a:cubicBezTo>
                    <a:pt x="718359" y="15264"/>
                    <a:pt x="721706" y="23345"/>
                    <a:pt x="721706" y="31772"/>
                  </a:cubicBezTo>
                  <a:lnTo>
                    <a:pt x="721706" y="382379"/>
                  </a:lnTo>
                  <a:cubicBezTo>
                    <a:pt x="721706" y="390805"/>
                    <a:pt x="718359" y="398886"/>
                    <a:pt x="712401" y="404845"/>
                  </a:cubicBezTo>
                  <a:cubicBezTo>
                    <a:pt x="706442" y="410803"/>
                    <a:pt x="698361" y="414150"/>
                    <a:pt x="689935" y="414150"/>
                  </a:cubicBezTo>
                  <a:lnTo>
                    <a:pt x="31772" y="414150"/>
                  </a:lnTo>
                  <a:cubicBezTo>
                    <a:pt x="23345" y="414150"/>
                    <a:pt x="15264" y="410803"/>
                    <a:pt x="9306" y="404845"/>
                  </a:cubicBezTo>
                  <a:cubicBezTo>
                    <a:pt x="3347" y="398886"/>
                    <a:pt x="0" y="390805"/>
                    <a:pt x="0" y="382379"/>
                  </a:cubicBezTo>
                  <a:lnTo>
                    <a:pt x="0" y="31772"/>
                  </a:lnTo>
                  <a:cubicBezTo>
                    <a:pt x="0" y="23345"/>
                    <a:pt x="3347" y="15264"/>
                    <a:pt x="9306" y="9306"/>
                  </a:cubicBezTo>
                  <a:cubicBezTo>
                    <a:pt x="15264" y="3347"/>
                    <a:pt x="23345" y="0"/>
                    <a:pt x="31772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21706" cy="442725"/>
            </a:xfrm>
            <a:prstGeom prst="rect">
              <a:avLst/>
            </a:prstGeom>
          </p:spPr>
          <p:txBody>
            <a:bodyPr anchor="ctr" rtlCol="false" tIns="42939" lIns="42939" bIns="42939" rIns="42939"/>
            <a:lstStyle/>
            <a:p>
              <a:pPr algn="ctr">
                <a:lnSpc>
                  <a:spcPts val="240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482174" y="5736020"/>
            <a:ext cx="2436739" cy="505343"/>
            <a:chOff x="0" y="0"/>
            <a:chExt cx="721706" cy="1496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1706" cy="149671"/>
            </a:xfrm>
            <a:custGeom>
              <a:avLst/>
              <a:gdLst/>
              <a:ahLst/>
              <a:cxnLst/>
              <a:rect r="r" b="b" t="t" l="l"/>
              <a:pathLst>
                <a:path h="149671" w="721706">
                  <a:moveTo>
                    <a:pt x="31772" y="0"/>
                  </a:moveTo>
                  <a:lnTo>
                    <a:pt x="689935" y="0"/>
                  </a:lnTo>
                  <a:cubicBezTo>
                    <a:pt x="698361" y="0"/>
                    <a:pt x="706442" y="3347"/>
                    <a:pt x="712401" y="9306"/>
                  </a:cubicBezTo>
                  <a:cubicBezTo>
                    <a:pt x="718359" y="15264"/>
                    <a:pt x="721706" y="23345"/>
                    <a:pt x="721706" y="31772"/>
                  </a:cubicBezTo>
                  <a:lnTo>
                    <a:pt x="721706" y="117899"/>
                  </a:lnTo>
                  <a:cubicBezTo>
                    <a:pt x="721706" y="135446"/>
                    <a:pt x="707482" y="149671"/>
                    <a:pt x="689935" y="149671"/>
                  </a:cubicBezTo>
                  <a:lnTo>
                    <a:pt x="31772" y="149671"/>
                  </a:lnTo>
                  <a:cubicBezTo>
                    <a:pt x="23345" y="149671"/>
                    <a:pt x="15264" y="146324"/>
                    <a:pt x="9306" y="140365"/>
                  </a:cubicBezTo>
                  <a:cubicBezTo>
                    <a:pt x="3347" y="134407"/>
                    <a:pt x="0" y="126326"/>
                    <a:pt x="0" y="117899"/>
                  </a:cubicBezTo>
                  <a:lnTo>
                    <a:pt x="0" y="31772"/>
                  </a:lnTo>
                  <a:cubicBezTo>
                    <a:pt x="0" y="23345"/>
                    <a:pt x="3347" y="15264"/>
                    <a:pt x="9306" y="9306"/>
                  </a:cubicBezTo>
                  <a:cubicBezTo>
                    <a:pt x="15264" y="3347"/>
                    <a:pt x="23345" y="0"/>
                    <a:pt x="31772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721706" cy="178246"/>
            </a:xfrm>
            <a:prstGeom prst="rect">
              <a:avLst/>
            </a:prstGeom>
          </p:spPr>
          <p:txBody>
            <a:bodyPr anchor="ctr" rtlCol="false" tIns="42939" lIns="42939" bIns="42939" rIns="42939"/>
            <a:lstStyle/>
            <a:p>
              <a:pPr algn="ctr">
                <a:lnSpc>
                  <a:spcPts val="2401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57739" y="5605467"/>
            <a:ext cx="2436739" cy="729128"/>
            <a:chOff x="0" y="0"/>
            <a:chExt cx="721706" cy="2159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1706" cy="215951"/>
            </a:xfrm>
            <a:custGeom>
              <a:avLst/>
              <a:gdLst/>
              <a:ahLst/>
              <a:cxnLst/>
              <a:rect r="r" b="b" t="t" l="l"/>
              <a:pathLst>
                <a:path h="215951" w="721706">
                  <a:moveTo>
                    <a:pt x="31772" y="0"/>
                  </a:moveTo>
                  <a:lnTo>
                    <a:pt x="689935" y="0"/>
                  </a:lnTo>
                  <a:cubicBezTo>
                    <a:pt x="698361" y="0"/>
                    <a:pt x="706442" y="3347"/>
                    <a:pt x="712401" y="9306"/>
                  </a:cubicBezTo>
                  <a:cubicBezTo>
                    <a:pt x="718359" y="15264"/>
                    <a:pt x="721706" y="23345"/>
                    <a:pt x="721706" y="31772"/>
                  </a:cubicBezTo>
                  <a:lnTo>
                    <a:pt x="721706" y="184179"/>
                  </a:lnTo>
                  <a:cubicBezTo>
                    <a:pt x="721706" y="201726"/>
                    <a:pt x="707482" y="215951"/>
                    <a:pt x="689935" y="215951"/>
                  </a:cubicBezTo>
                  <a:lnTo>
                    <a:pt x="31772" y="215951"/>
                  </a:lnTo>
                  <a:cubicBezTo>
                    <a:pt x="23345" y="215951"/>
                    <a:pt x="15264" y="212604"/>
                    <a:pt x="9306" y="206645"/>
                  </a:cubicBezTo>
                  <a:cubicBezTo>
                    <a:pt x="3347" y="200687"/>
                    <a:pt x="0" y="192606"/>
                    <a:pt x="0" y="184179"/>
                  </a:cubicBezTo>
                  <a:lnTo>
                    <a:pt x="0" y="31772"/>
                  </a:lnTo>
                  <a:cubicBezTo>
                    <a:pt x="0" y="23345"/>
                    <a:pt x="3347" y="15264"/>
                    <a:pt x="9306" y="9306"/>
                  </a:cubicBezTo>
                  <a:cubicBezTo>
                    <a:pt x="15264" y="3347"/>
                    <a:pt x="23345" y="0"/>
                    <a:pt x="31772" y="0"/>
                  </a:cubicBez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721706" cy="244526"/>
            </a:xfrm>
            <a:prstGeom prst="rect">
              <a:avLst/>
            </a:prstGeom>
          </p:spPr>
          <p:txBody>
            <a:bodyPr anchor="ctr" rtlCol="false" tIns="42939" lIns="42939" bIns="42939" rIns="42939"/>
            <a:lstStyle/>
            <a:p>
              <a:pPr algn="ctr">
                <a:lnSpc>
                  <a:spcPts val="2401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230121" y="5819000"/>
            <a:ext cx="6926960" cy="33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  <a:spcBef>
                <a:spcPct val="0"/>
              </a:spcBef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REDE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11189" y="5642787"/>
            <a:ext cx="6926960" cy="69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SISTEMA</a:t>
            </a:r>
          </a:p>
          <a:p>
            <a:pPr algn="ctr">
              <a:lnSpc>
                <a:spcPts val="2818"/>
              </a:lnSpc>
              <a:spcBef>
                <a:spcPct val="0"/>
              </a:spcBef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MSA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45123" y="5793428"/>
            <a:ext cx="6926960" cy="104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MONITORAMENTO</a:t>
            </a:r>
          </a:p>
          <a:p>
            <a:pPr algn="ctr">
              <a:lnSpc>
                <a:spcPts val="2818"/>
              </a:lnSpc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</a:t>
            </a:r>
          </a:p>
          <a:p>
            <a:pPr algn="ctr">
              <a:lnSpc>
                <a:spcPts val="2818"/>
              </a:lnSpc>
              <a:spcBef>
                <a:spcPct val="0"/>
              </a:spcBef>
            </a:pPr>
            <a:r>
              <a:rPr lang="en-US" sz="201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ANÁLISE</a:t>
            </a:r>
          </a:p>
        </p:txBody>
      </p:sp>
      <p:sp>
        <p:nvSpPr>
          <p:cNvPr name="AutoShape 35" id="35"/>
          <p:cNvSpPr/>
          <p:nvPr/>
        </p:nvSpPr>
        <p:spPr>
          <a:xfrm>
            <a:off x="16719594" y="5012447"/>
            <a:ext cx="0" cy="562019"/>
          </a:xfrm>
          <a:prstGeom prst="line">
            <a:avLst/>
          </a:prstGeom>
          <a:ln cap="flat" w="38100">
            <a:solidFill>
              <a:srgbClr val="4D4D4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flipH="true" flipV="true">
            <a:off x="14807317" y="6007741"/>
            <a:ext cx="562019" cy="0"/>
          </a:xfrm>
          <a:prstGeom prst="line">
            <a:avLst/>
          </a:prstGeom>
          <a:ln cap="flat" w="38100">
            <a:solidFill>
              <a:srgbClr val="4D4D4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11675432" y="5934140"/>
            <a:ext cx="562019" cy="0"/>
          </a:xfrm>
          <a:prstGeom prst="line">
            <a:avLst/>
          </a:prstGeom>
          <a:ln cap="flat" w="38100">
            <a:solidFill>
              <a:srgbClr val="4D4D4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261538" y="9258300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5" y="0"/>
                </a:lnTo>
                <a:lnTo>
                  <a:pt x="1962285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538" y="9258300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5" y="0"/>
                </a:lnTo>
                <a:lnTo>
                  <a:pt x="1962285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42223" y="612109"/>
            <a:ext cx="317077" cy="149891"/>
          </a:xfrm>
          <a:custGeom>
            <a:avLst/>
            <a:gdLst/>
            <a:ahLst/>
            <a:cxnLst/>
            <a:rect r="r" b="b" t="t" l="l"/>
            <a:pathLst>
              <a:path h="149891" w="317077">
                <a:moveTo>
                  <a:pt x="0" y="0"/>
                </a:moveTo>
                <a:lnTo>
                  <a:pt x="317077" y="0"/>
                </a:lnTo>
                <a:lnTo>
                  <a:pt x="317077" y="149891"/>
                </a:lnTo>
                <a:lnTo>
                  <a:pt x="0" y="149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hlinkClick r:id="rId6" tooltip="https://luanxso.github.io/MSA/dist/"/>
          </p:cNvPr>
          <p:cNvSpPr/>
          <p:nvPr/>
        </p:nvSpPr>
        <p:spPr>
          <a:xfrm flipH="false" flipV="false" rot="0">
            <a:off x="5499293" y="2342135"/>
            <a:ext cx="7289414" cy="7224038"/>
          </a:xfrm>
          <a:custGeom>
            <a:avLst/>
            <a:gdLst/>
            <a:ahLst/>
            <a:cxnLst/>
            <a:rect r="r" b="b" t="t" l="l"/>
            <a:pathLst>
              <a:path h="7224038" w="7289414">
                <a:moveTo>
                  <a:pt x="0" y="0"/>
                </a:moveTo>
                <a:lnTo>
                  <a:pt x="7289414" y="0"/>
                </a:lnTo>
                <a:lnTo>
                  <a:pt x="7289414" y="7224038"/>
                </a:lnTo>
                <a:lnTo>
                  <a:pt x="0" y="7224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1329" y="920299"/>
            <a:ext cx="11446917" cy="142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6"/>
              </a:lnSpc>
            </a:pPr>
            <a:r>
              <a:rPr lang="en-US" sz="1213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PROTÓTIPO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066" y="1430478"/>
            <a:ext cx="18476133" cy="7426044"/>
          </a:xfrm>
          <a:custGeom>
            <a:avLst/>
            <a:gdLst/>
            <a:ahLst/>
            <a:cxnLst/>
            <a:rect r="r" b="b" t="t" l="l"/>
            <a:pathLst>
              <a:path h="7426044" w="18476133">
                <a:moveTo>
                  <a:pt x="0" y="0"/>
                </a:moveTo>
                <a:lnTo>
                  <a:pt x="18476132" y="0"/>
                </a:lnTo>
                <a:lnTo>
                  <a:pt x="18476132" y="7426044"/>
                </a:lnTo>
                <a:lnTo>
                  <a:pt x="0" y="7426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40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42223" y="612109"/>
            <a:ext cx="317077" cy="149891"/>
          </a:xfrm>
          <a:custGeom>
            <a:avLst/>
            <a:gdLst/>
            <a:ahLst/>
            <a:cxnLst/>
            <a:rect r="r" b="b" t="t" l="l"/>
            <a:pathLst>
              <a:path h="149891" w="317077">
                <a:moveTo>
                  <a:pt x="0" y="0"/>
                </a:moveTo>
                <a:lnTo>
                  <a:pt x="317077" y="0"/>
                </a:lnTo>
                <a:lnTo>
                  <a:pt x="317077" y="149891"/>
                </a:lnTo>
                <a:lnTo>
                  <a:pt x="0" y="149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1538" y="9258300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5" y="0"/>
                </a:lnTo>
                <a:lnTo>
                  <a:pt x="1962285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42223" y="612109"/>
            <a:ext cx="317077" cy="149891"/>
          </a:xfrm>
          <a:custGeom>
            <a:avLst/>
            <a:gdLst/>
            <a:ahLst/>
            <a:cxnLst/>
            <a:rect r="r" b="b" t="t" l="l"/>
            <a:pathLst>
              <a:path h="149891" w="317077">
                <a:moveTo>
                  <a:pt x="0" y="0"/>
                </a:moveTo>
                <a:lnTo>
                  <a:pt x="317077" y="0"/>
                </a:lnTo>
                <a:lnTo>
                  <a:pt x="317077" y="149891"/>
                </a:lnTo>
                <a:lnTo>
                  <a:pt x="0" y="149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333859" y="2895245"/>
          <a:ext cx="3771900" cy="5657850"/>
        </p:xfrm>
        <a:graphic>
          <a:graphicData uri="http://schemas.openxmlformats.org/presentationml/2006/ole">
            <p:oleObj imgW="4902200" imgH="67818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69853" y="973174"/>
            <a:ext cx="8556784" cy="179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6"/>
              </a:lnSpc>
            </a:pPr>
            <a:r>
              <a:rPr lang="en-US" sz="15330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INVESTIMENTO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9853" y="2129107"/>
            <a:ext cx="2080974" cy="38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Projeto-piloto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664" y="774948"/>
            <a:ext cx="12263085" cy="1517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6"/>
              </a:lnSpc>
            </a:pPr>
            <a:r>
              <a:rPr lang="en-US" b="true" sz="12970">
                <a:solidFill>
                  <a:srgbClr val="0199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POR QUE ESSE SISTEMA?</a:t>
            </a:r>
          </a:p>
        </p:txBody>
      </p:sp>
      <p:sp>
        <p:nvSpPr>
          <p:cNvPr name="AutoShape 3" id="3"/>
          <p:cNvSpPr/>
          <p:nvPr/>
        </p:nvSpPr>
        <p:spPr>
          <a:xfrm>
            <a:off x="-7023655" y="1843230"/>
            <a:ext cx="161676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4664" y="9346149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6" y="0"/>
                </a:lnTo>
                <a:lnTo>
                  <a:pt x="1962286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591017" y="5143500"/>
            <a:ext cx="4666988" cy="466698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blipFill>
              <a:blip r:embed="rId3"/>
              <a:stretch>
                <a:fillRect l="-25073" t="0" r="-2507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492576" y="2063467"/>
            <a:ext cx="4666988" cy="466698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blipFill>
              <a:blip r:embed="rId4"/>
              <a:stretch>
                <a:fillRect l="-25301" t="0" r="-2530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264518" y="5143500"/>
            <a:ext cx="4666988" cy="46669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blipFill>
              <a:blip r:embed="rId5"/>
              <a:stretch>
                <a:fillRect l="-63422" t="0" r="-659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89605" y="2063467"/>
            <a:ext cx="4666988" cy="466698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blipFill>
              <a:blip r:embed="rId6"/>
              <a:stretch>
                <a:fillRect l="-24976" t="0" r="-24976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3052" y="6892380"/>
            <a:ext cx="2991466" cy="69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b="true" sz="18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APROVEITAMENTO DOS SENSORES EXISTENTES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34410" y="3742526"/>
            <a:ext cx="2991466" cy="140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b="true" sz="18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LEITURA </a:t>
            </a:r>
          </a:p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b="true" sz="18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 PAPEIS MANUAIS E IMAGENS REGUSTRADAS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66176" y="6807540"/>
            <a:ext cx="2991466" cy="66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b="true" sz="18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VISUALIZAÇÃO</a:t>
            </a:r>
          </a:p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b="true" sz="18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EM TEMPO REAL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28778" y="4235871"/>
            <a:ext cx="2991466" cy="66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b="true" sz="18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SISTEMA</a:t>
            </a:r>
          </a:p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b="true" sz="18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MULTIPLATAFORMA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2608" y="565752"/>
            <a:ext cx="16925392" cy="255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b="true" sz="11712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ESCALABILIDADE E EXPANSÃO FUTURA</a:t>
            </a:r>
          </a:p>
          <a:p>
            <a:pPr algn="ctr">
              <a:lnSpc>
                <a:spcPts val="9487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2343838" y="1648921"/>
            <a:ext cx="161676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4664" y="9346149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6" y="0"/>
                </a:lnTo>
                <a:lnTo>
                  <a:pt x="1962286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513028" y="2752926"/>
            <a:ext cx="6646125" cy="4984593"/>
            <a:chOff x="0" y="0"/>
            <a:chExt cx="8128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-6309" t="0" r="-630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79180" y="3665113"/>
            <a:ext cx="6646125" cy="4984593"/>
            <a:chOff x="0" y="0"/>
            <a:chExt cx="8128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6250" t="0" r="-625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613175" y="5302407"/>
            <a:ext cx="6646125" cy="4984593"/>
            <a:chOff x="0" y="0"/>
            <a:chExt cx="81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l="-6306" t="0" r="-630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987008" y="4797896"/>
            <a:ext cx="3504753" cy="345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0"/>
              </a:lnSpc>
              <a:spcBef>
                <a:spcPct val="0"/>
              </a:spcBef>
            </a:pPr>
            <a:r>
              <a:rPr lang="en-US" b="true" sz="18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MANUTENÇÃO INTELIGENTE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95891" y="8646215"/>
            <a:ext cx="3504753" cy="69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b="true" sz="18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INTEGRAÇÃO SIMPLES</a:t>
            </a:r>
          </a:p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b="true" sz="18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 NOVAS MÁQUINAS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66950" y="1951269"/>
            <a:ext cx="2606500" cy="69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b="true" sz="1843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INTEGRAÇÃO COM O SISTEMA DE PONTO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9124950" y="-2567454"/>
            <a:ext cx="19050" cy="380087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163050" y="9083077"/>
            <a:ext cx="19050" cy="380087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245152" y="6321835"/>
            <a:ext cx="6259852" cy="4194101"/>
          </a:xfrm>
          <a:custGeom>
            <a:avLst/>
            <a:gdLst/>
            <a:ahLst/>
            <a:cxnLst/>
            <a:rect r="r" b="b" t="t" l="l"/>
            <a:pathLst>
              <a:path h="4194101" w="6259852">
                <a:moveTo>
                  <a:pt x="0" y="0"/>
                </a:moveTo>
                <a:lnTo>
                  <a:pt x="6259852" y="0"/>
                </a:lnTo>
                <a:lnTo>
                  <a:pt x="6259852" y="4194101"/>
                </a:lnTo>
                <a:lnTo>
                  <a:pt x="0" y="4194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942223" y="612109"/>
            <a:ext cx="317077" cy="149891"/>
          </a:xfrm>
          <a:custGeom>
            <a:avLst/>
            <a:gdLst/>
            <a:ahLst/>
            <a:cxnLst/>
            <a:rect r="r" b="b" t="t" l="l"/>
            <a:pathLst>
              <a:path h="149891" w="317077">
                <a:moveTo>
                  <a:pt x="0" y="0"/>
                </a:moveTo>
                <a:lnTo>
                  <a:pt x="317077" y="0"/>
                </a:lnTo>
                <a:lnTo>
                  <a:pt x="317077" y="149891"/>
                </a:lnTo>
                <a:lnTo>
                  <a:pt x="0" y="149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1538" y="9258300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5" y="0"/>
                </a:lnTo>
                <a:lnTo>
                  <a:pt x="1962285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153116" y="1028700"/>
            <a:ext cx="4443924" cy="3830668"/>
            <a:chOff x="0" y="0"/>
            <a:chExt cx="896489" cy="7727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6489" cy="772775"/>
            </a:xfrm>
            <a:custGeom>
              <a:avLst/>
              <a:gdLst/>
              <a:ahLst/>
              <a:cxnLst/>
              <a:rect r="r" b="b" t="t" l="l"/>
              <a:pathLst>
                <a:path h="772775" w="896489">
                  <a:moveTo>
                    <a:pt x="40069" y="0"/>
                  </a:moveTo>
                  <a:lnTo>
                    <a:pt x="856420" y="0"/>
                  </a:lnTo>
                  <a:cubicBezTo>
                    <a:pt x="878550" y="0"/>
                    <a:pt x="896489" y="17940"/>
                    <a:pt x="896489" y="40069"/>
                  </a:cubicBezTo>
                  <a:lnTo>
                    <a:pt x="896489" y="732706"/>
                  </a:lnTo>
                  <a:cubicBezTo>
                    <a:pt x="896489" y="754835"/>
                    <a:pt x="878550" y="772775"/>
                    <a:pt x="856420" y="772775"/>
                  </a:cubicBezTo>
                  <a:lnTo>
                    <a:pt x="40069" y="772775"/>
                  </a:lnTo>
                  <a:cubicBezTo>
                    <a:pt x="17940" y="772775"/>
                    <a:pt x="0" y="754835"/>
                    <a:pt x="0" y="732706"/>
                  </a:cubicBezTo>
                  <a:lnTo>
                    <a:pt x="0" y="40069"/>
                  </a:lnTo>
                  <a:cubicBezTo>
                    <a:pt x="0" y="17940"/>
                    <a:pt x="17940" y="0"/>
                    <a:pt x="40069" y="0"/>
                  </a:cubicBezTo>
                  <a:close/>
                </a:path>
              </a:pathLst>
            </a:custGeom>
            <a:blipFill>
              <a:blip r:embed="rId6"/>
              <a:stretch>
                <a:fillRect l="-14812" t="0" r="-14812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0" y="3025315"/>
            <a:ext cx="12848402" cy="238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12"/>
              </a:lnSpc>
            </a:pPr>
            <a:r>
              <a:rPr lang="en-US" b="true" sz="107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HOJE, A PRODUÇÃO</a:t>
            </a:r>
            <a:r>
              <a:rPr lang="en-US" b="true" sz="1075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CONTA SUA HISTÓRIA NO PAPEL.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5546098"/>
            <a:ext cx="12109780" cy="144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43"/>
              </a:lnSpc>
            </a:pPr>
            <a:r>
              <a:rPr lang="en-US" b="true" sz="6596">
                <a:solidFill>
                  <a:srgbClr val="A7B2A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 ESSA HISTÓRIA SÓ É ANALISADA DEPOIS QUE O TURNO TERMINA.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29400" y="7274014"/>
            <a:ext cx="6791100" cy="80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  <a:spcBef>
                <a:spcPct val="0"/>
              </a:spcBef>
            </a:pPr>
            <a:r>
              <a:rPr lang="en-US" b="true" sz="2298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INFORMAÇÃO ATRASADA PODE SIGNIFICAR DECISÃO ATRASADA.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2060" y="4456000"/>
            <a:ext cx="7018997" cy="4138087"/>
            <a:chOff x="0" y="0"/>
            <a:chExt cx="1093050" cy="6444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3050" cy="644413"/>
            </a:xfrm>
            <a:custGeom>
              <a:avLst/>
              <a:gdLst/>
              <a:ahLst/>
              <a:cxnLst/>
              <a:rect r="r" b="b" t="t" l="l"/>
              <a:pathLst>
                <a:path h="644413" w="1093050">
                  <a:moveTo>
                    <a:pt x="0" y="0"/>
                  </a:moveTo>
                  <a:lnTo>
                    <a:pt x="1093050" y="0"/>
                  </a:lnTo>
                  <a:lnTo>
                    <a:pt x="1093050" y="644413"/>
                  </a:lnTo>
                  <a:lnTo>
                    <a:pt x="0" y="644413"/>
                  </a:lnTo>
                  <a:close/>
                </a:path>
              </a:pathLst>
            </a:custGeom>
            <a:blipFill>
              <a:blip r:embed="rId2"/>
              <a:stretch>
                <a:fillRect l="-2404" t="0" r="-240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2060" y="1375167"/>
            <a:ext cx="3509499" cy="320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6"/>
              </a:lnSpc>
            </a:pPr>
            <a:r>
              <a:rPr lang="en-US" sz="27527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EAÍ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80964" y="-9058444"/>
            <a:ext cx="11807036" cy="1180703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A7B2A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40050" y="240249"/>
            <a:ext cx="3288865" cy="1576903"/>
          </a:xfrm>
          <a:custGeom>
            <a:avLst/>
            <a:gdLst/>
            <a:ahLst/>
            <a:cxnLst/>
            <a:rect r="r" b="b" t="t" l="l"/>
            <a:pathLst>
              <a:path h="1576903" w="3288865">
                <a:moveTo>
                  <a:pt x="0" y="0"/>
                </a:moveTo>
                <a:lnTo>
                  <a:pt x="3288864" y="0"/>
                </a:lnTo>
                <a:lnTo>
                  <a:pt x="3288864" y="1576902"/>
                </a:lnTo>
                <a:lnTo>
                  <a:pt x="0" y="1576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681375" y="5998829"/>
            <a:ext cx="8577925" cy="337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68"/>
              </a:lnSpc>
            </a:pPr>
            <a:r>
              <a:rPr lang="en-US" b="true" sz="29096">
                <a:solidFill>
                  <a:srgbClr val="05BB7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GENTE?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77624" y="3389315"/>
            <a:ext cx="13813716" cy="224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5"/>
              </a:lnSpc>
              <a:spcBef>
                <a:spcPct val="0"/>
              </a:spcBef>
            </a:pPr>
            <a:r>
              <a:rPr lang="en-US" b="true" sz="13004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VOCÊ VEM COM 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57078" y="1375167"/>
            <a:ext cx="6993328" cy="320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96"/>
              </a:lnSpc>
            </a:pPr>
            <a:r>
              <a:rPr lang="en-US" sz="27527" b="true">
                <a:solidFill>
                  <a:srgbClr val="01995B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MSA</a:t>
            </a:r>
            <a:r>
              <a:rPr lang="en-US" sz="27527" b="true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,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61538" y="9258300"/>
            <a:ext cx="1962285" cy="940851"/>
          </a:xfrm>
          <a:custGeom>
            <a:avLst/>
            <a:gdLst/>
            <a:ahLst/>
            <a:cxnLst/>
            <a:rect r="r" b="b" t="t" l="l"/>
            <a:pathLst>
              <a:path h="940851" w="1962285">
                <a:moveTo>
                  <a:pt x="0" y="0"/>
                </a:moveTo>
                <a:lnTo>
                  <a:pt x="1962285" y="0"/>
                </a:lnTo>
                <a:lnTo>
                  <a:pt x="1962285" y="940851"/>
                </a:lnTo>
                <a:lnTo>
                  <a:pt x="0" y="940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DAHXVZbjk94</dc:identifier>
  <dcterms:modified xsi:type="dcterms:W3CDTF">2011-08-01T06:04:30Z</dcterms:modified>
  <cp:revision>1</cp:revision>
  <dc:title>MSA-DESAFIO DE IDEIAS</dc:title>
</cp:coreProperties>
</file>